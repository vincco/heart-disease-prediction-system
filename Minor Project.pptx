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KL UNIVERSITY  •  BACHUPALLY CAMPUS, HYDERABAD</a:t>
            </a:r>
            <a:endParaRPr lang="en-US" sz="1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Department of Computer Science &amp; Engineering</a:t>
            </a:r>
            <a:endParaRPr lang="en-US" sz="1200" dirty="0"/>
          </a:p>
        </p:txBody>
      </p:sp>
      <p:sp>
        <p:nvSpPr>
          <p:cNvPr id="4" name="Text 2"/>
          <p:cNvSpPr txBox="1"/>
          <p:nvPr/>
        </p:nvSpPr>
        <p:spPr>
          <a:xfrm>
            <a:off x="457200" y="1371600"/>
            <a:ext cx="8229600" cy="137160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MACHINE LEARNING-BASED</a:t>
            </a:r>
            <a:endParaRPr lang="en-US" sz="3400" dirty="0"/>
          </a:p>
          <a:p>
            <a:pPr algn="ctr" indent="0" marL="0">
              <a:buNone/>
            </a:pPr>
            <a:r>
              <a:rPr lang="en-US" sz="3400" b="1" dirty="0">
                <a:solidFill>
                  <a:srgbClr val="FFFFFF"/>
                </a:solidFill>
                <a:latin typeface="Calibri" pitchFamily="34" charset="0"/>
                <a:ea typeface="Calibri" pitchFamily="34" charset="-122"/>
                <a:cs typeface="Calibri" pitchFamily="34" charset="-120"/>
              </a:rPr>
              <a:t>HEART DISEASE PREDICTION SYSTEM</a:t>
            </a:r>
            <a:endParaRPr lang="en-US" sz="3400" dirty="0"/>
          </a:p>
        </p:txBody>
      </p:sp>
      <p:sp>
        <p:nvSpPr>
          <p:cNvPr id="5" name="Text 3"/>
          <p:cNvSpPr txBox="1"/>
          <p:nvPr/>
        </p:nvSpPr>
        <p:spPr>
          <a:xfrm>
            <a:off x="731520" y="3291840"/>
            <a:ext cx="36576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PRESENTED BY</a:t>
            </a:r>
            <a:endParaRPr lang="en-US" sz="1200" dirty="0"/>
          </a:p>
        </p:txBody>
      </p:sp>
      <p:sp>
        <p:nvSpPr>
          <p:cNvPr id="6" name="Text 4"/>
          <p:cNvSpPr txBox="1"/>
          <p:nvPr/>
        </p:nvSpPr>
        <p:spPr>
          <a:xfrm>
            <a:off x="731520" y="3611880"/>
            <a:ext cx="3657600" cy="6400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2520030149   Vineetha</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2520030469   Mahitha</a:t>
            </a:r>
            <a:endParaRPr lang="en-US" sz="1300" dirty="0"/>
          </a:p>
        </p:txBody>
      </p:sp>
      <p:sp>
        <p:nvSpPr>
          <p:cNvPr id="7" name="Text 5"/>
          <p:cNvSpPr txBox="1"/>
          <p:nvPr/>
        </p:nvSpPr>
        <p:spPr>
          <a:xfrm>
            <a:off x="4937760" y="3291840"/>
            <a:ext cx="36576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UNDER THE GUIDANCE OF</a:t>
            </a:r>
            <a:endParaRPr lang="en-US" sz="1200" dirty="0"/>
          </a:p>
        </p:txBody>
      </p:sp>
      <p:sp>
        <p:nvSpPr>
          <p:cNvPr id="8" name="Text 6"/>
          <p:cNvSpPr txBox="1"/>
          <p:nvPr/>
        </p:nvSpPr>
        <p:spPr>
          <a:xfrm>
            <a:off x="4937760" y="3611880"/>
            <a:ext cx="3657600" cy="8229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Raghavendra</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Assistant Professor, Department of CSE</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KLH Bachupally Campus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AGENDA</a:t>
            </a:r>
            <a:endParaRPr lang="en-US" sz="2400" dirty="0"/>
          </a:p>
        </p:txBody>
      </p:sp>
      <p:sp>
        <p:nvSpPr>
          <p:cNvPr id="4" name="Shape 2"/>
          <p:cNvSpPr/>
          <p:nvPr/>
        </p:nvSpPr>
        <p:spPr>
          <a:xfrm>
            <a:off x="548640" y="1097280"/>
            <a:ext cx="457200" cy="457200"/>
          </a:xfrm>
          <a:prstGeom prst="ellipse">
            <a:avLst/>
          </a:prstGeom>
          <a:solidFill>
            <a:srgbClr val="4472C4"/>
          </a:solidFill>
          <a:ln w="12700">
            <a:solidFill>
              <a:srgbClr val="4472C4"/>
            </a:solidFill>
            <a:prstDash val="solid"/>
          </a:ln>
        </p:spPr>
      </p:sp>
      <p:sp>
        <p:nvSpPr>
          <p:cNvPr id="5" name="Text 3"/>
          <p:cNvSpPr txBox="1"/>
          <p:nvPr/>
        </p:nvSpPr>
        <p:spPr>
          <a:xfrm>
            <a:off x="548640" y="1097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09728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Introduction &amp; Domain Background</a:t>
            </a:r>
            <a:endParaRPr lang="en-US" sz="1500" dirty="0"/>
          </a:p>
        </p:txBody>
      </p:sp>
      <p:sp>
        <p:nvSpPr>
          <p:cNvPr id="7" name="Shape 5"/>
          <p:cNvSpPr/>
          <p:nvPr/>
        </p:nvSpPr>
        <p:spPr>
          <a:xfrm>
            <a:off x="4754880" y="1097280"/>
            <a:ext cx="457200" cy="457200"/>
          </a:xfrm>
          <a:prstGeom prst="ellipse">
            <a:avLst/>
          </a:prstGeom>
          <a:solidFill>
            <a:srgbClr val="4472C4"/>
          </a:solidFill>
          <a:ln w="12700">
            <a:solidFill>
              <a:srgbClr val="4472C4"/>
            </a:solidFill>
            <a:prstDash val="solid"/>
          </a:ln>
        </p:spPr>
      </p:sp>
      <p:sp>
        <p:nvSpPr>
          <p:cNvPr id="8" name="Text 6"/>
          <p:cNvSpPr txBox="1"/>
          <p:nvPr/>
        </p:nvSpPr>
        <p:spPr>
          <a:xfrm>
            <a:off x="4754880" y="1097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349240" y="109728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Problem Statement &amp; Motivation</a:t>
            </a:r>
            <a:endParaRPr lang="en-US" sz="1500" dirty="0"/>
          </a:p>
        </p:txBody>
      </p:sp>
      <p:sp>
        <p:nvSpPr>
          <p:cNvPr id="10" name="Shape 8"/>
          <p:cNvSpPr/>
          <p:nvPr/>
        </p:nvSpPr>
        <p:spPr>
          <a:xfrm>
            <a:off x="548640" y="1874520"/>
            <a:ext cx="457200" cy="457200"/>
          </a:xfrm>
          <a:prstGeom prst="ellipse">
            <a:avLst/>
          </a:prstGeom>
          <a:solidFill>
            <a:srgbClr val="4472C4"/>
          </a:solidFill>
          <a:ln w="12700">
            <a:solidFill>
              <a:srgbClr val="4472C4"/>
            </a:solidFill>
            <a:prstDash val="solid"/>
          </a:ln>
        </p:spPr>
      </p:sp>
      <p:sp>
        <p:nvSpPr>
          <p:cNvPr id="11" name="Text 9"/>
          <p:cNvSpPr txBox="1"/>
          <p:nvPr/>
        </p:nvSpPr>
        <p:spPr>
          <a:xfrm>
            <a:off x="548640"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143000" y="187452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Literature Survey</a:t>
            </a:r>
            <a:endParaRPr lang="en-US" sz="1500" dirty="0"/>
          </a:p>
        </p:txBody>
      </p:sp>
      <p:sp>
        <p:nvSpPr>
          <p:cNvPr id="13" name="Shape 11"/>
          <p:cNvSpPr/>
          <p:nvPr/>
        </p:nvSpPr>
        <p:spPr>
          <a:xfrm>
            <a:off x="4754880" y="1874520"/>
            <a:ext cx="457200" cy="457200"/>
          </a:xfrm>
          <a:prstGeom prst="ellipse">
            <a:avLst/>
          </a:prstGeom>
          <a:solidFill>
            <a:srgbClr val="4472C4"/>
          </a:solidFill>
          <a:ln w="12700">
            <a:solidFill>
              <a:srgbClr val="4472C4"/>
            </a:solidFill>
            <a:prstDash val="solid"/>
          </a:ln>
        </p:spPr>
      </p:sp>
      <p:sp>
        <p:nvSpPr>
          <p:cNvPr id="14" name="Text 12"/>
          <p:cNvSpPr txBox="1"/>
          <p:nvPr/>
        </p:nvSpPr>
        <p:spPr>
          <a:xfrm>
            <a:off x="4754880"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5349240" y="187452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Research Gap Identified</a:t>
            </a:r>
            <a:endParaRPr lang="en-US" sz="1500" dirty="0"/>
          </a:p>
        </p:txBody>
      </p:sp>
      <p:sp>
        <p:nvSpPr>
          <p:cNvPr id="16" name="Shape 14"/>
          <p:cNvSpPr/>
          <p:nvPr/>
        </p:nvSpPr>
        <p:spPr>
          <a:xfrm>
            <a:off x="548640" y="2651760"/>
            <a:ext cx="457200" cy="457200"/>
          </a:xfrm>
          <a:prstGeom prst="ellipse">
            <a:avLst/>
          </a:prstGeom>
          <a:solidFill>
            <a:srgbClr val="4472C4"/>
          </a:solidFill>
          <a:ln w="12700">
            <a:solidFill>
              <a:srgbClr val="4472C4"/>
            </a:solidFill>
            <a:prstDash val="solid"/>
          </a:ln>
        </p:spPr>
      </p:sp>
      <p:sp>
        <p:nvSpPr>
          <p:cNvPr id="17" name="Text 15"/>
          <p:cNvSpPr txBox="1"/>
          <p:nvPr/>
        </p:nvSpPr>
        <p:spPr>
          <a:xfrm>
            <a:off x="548640" y="26517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143000" y="265176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Objectives of the Project</a:t>
            </a:r>
            <a:endParaRPr lang="en-US" sz="1500" dirty="0"/>
          </a:p>
        </p:txBody>
      </p:sp>
      <p:sp>
        <p:nvSpPr>
          <p:cNvPr id="19" name="Shape 17"/>
          <p:cNvSpPr/>
          <p:nvPr/>
        </p:nvSpPr>
        <p:spPr>
          <a:xfrm>
            <a:off x="4754880" y="2651760"/>
            <a:ext cx="457200" cy="457200"/>
          </a:xfrm>
          <a:prstGeom prst="ellipse">
            <a:avLst/>
          </a:prstGeom>
          <a:solidFill>
            <a:srgbClr val="4472C4"/>
          </a:solidFill>
          <a:ln w="12700">
            <a:solidFill>
              <a:srgbClr val="4472C4"/>
            </a:solidFill>
            <a:prstDash val="solid"/>
          </a:ln>
        </p:spPr>
      </p:sp>
      <p:sp>
        <p:nvSpPr>
          <p:cNvPr id="20" name="Text 18"/>
          <p:cNvSpPr txBox="1"/>
          <p:nvPr/>
        </p:nvSpPr>
        <p:spPr>
          <a:xfrm>
            <a:off x="4754880" y="26517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txBox="1"/>
          <p:nvPr/>
        </p:nvSpPr>
        <p:spPr>
          <a:xfrm>
            <a:off x="5349240" y="265176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Proposed System Architecture</a:t>
            </a:r>
            <a:endParaRPr lang="en-US" sz="1500" dirty="0"/>
          </a:p>
        </p:txBody>
      </p:sp>
      <p:sp>
        <p:nvSpPr>
          <p:cNvPr id="22" name="Shape 20"/>
          <p:cNvSpPr/>
          <p:nvPr/>
        </p:nvSpPr>
        <p:spPr>
          <a:xfrm>
            <a:off x="548640" y="3429000"/>
            <a:ext cx="457200" cy="457200"/>
          </a:xfrm>
          <a:prstGeom prst="ellipse">
            <a:avLst/>
          </a:prstGeom>
          <a:solidFill>
            <a:srgbClr val="4472C4"/>
          </a:solidFill>
          <a:ln w="12700">
            <a:solidFill>
              <a:srgbClr val="4472C4"/>
            </a:solidFill>
            <a:prstDash val="solid"/>
          </a:ln>
        </p:spPr>
      </p:sp>
      <p:sp>
        <p:nvSpPr>
          <p:cNvPr id="23" name="Text 21"/>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4" name="Text 22"/>
          <p:cNvSpPr txBox="1"/>
          <p:nvPr/>
        </p:nvSpPr>
        <p:spPr>
          <a:xfrm>
            <a:off x="1143000" y="342900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Tools and Technologies</a:t>
            </a:r>
            <a:endParaRPr lang="en-US" sz="1500" dirty="0"/>
          </a:p>
        </p:txBody>
      </p:sp>
      <p:sp>
        <p:nvSpPr>
          <p:cNvPr id="25" name="Shape 23"/>
          <p:cNvSpPr/>
          <p:nvPr/>
        </p:nvSpPr>
        <p:spPr>
          <a:xfrm>
            <a:off x="4754880" y="3429000"/>
            <a:ext cx="457200" cy="457200"/>
          </a:xfrm>
          <a:prstGeom prst="ellipse">
            <a:avLst/>
          </a:prstGeom>
          <a:solidFill>
            <a:srgbClr val="4472C4"/>
          </a:solidFill>
          <a:ln w="12700">
            <a:solidFill>
              <a:srgbClr val="4472C4"/>
            </a:solidFill>
            <a:prstDash val="solid"/>
          </a:ln>
        </p:spPr>
      </p:sp>
      <p:sp>
        <p:nvSpPr>
          <p:cNvPr id="26" name="Text 24"/>
          <p:cNvSpPr txBox="1"/>
          <p:nvPr/>
        </p:nvSpPr>
        <p:spPr>
          <a:xfrm>
            <a:off x="4754880" y="3429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7" name="Text 25"/>
          <p:cNvSpPr txBox="1"/>
          <p:nvPr/>
        </p:nvSpPr>
        <p:spPr>
          <a:xfrm>
            <a:off x="5349240" y="342900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Work Completed / Demo</a:t>
            </a:r>
            <a:endParaRPr lang="en-US" sz="1500" dirty="0"/>
          </a:p>
        </p:txBody>
      </p:sp>
      <p:sp>
        <p:nvSpPr>
          <p:cNvPr id="28" name="Shape 26"/>
          <p:cNvSpPr/>
          <p:nvPr/>
        </p:nvSpPr>
        <p:spPr>
          <a:xfrm>
            <a:off x="548640" y="4206240"/>
            <a:ext cx="457200" cy="457200"/>
          </a:xfrm>
          <a:prstGeom prst="ellipse">
            <a:avLst/>
          </a:prstGeom>
          <a:solidFill>
            <a:srgbClr val="4472C4"/>
          </a:solidFill>
          <a:ln w="12700">
            <a:solidFill>
              <a:srgbClr val="4472C4"/>
            </a:solidFill>
            <a:prstDash val="solid"/>
          </a:ln>
        </p:spPr>
      </p:sp>
      <p:sp>
        <p:nvSpPr>
          <p:cNvPr id="29" name="Text 27"/>
          <p:cNvSpPr txBox="1"/>
          <p:nvPr/>
        </p:nvSpPr>
        <p:spPr>
          <a:xfrm>
            <a:off x="548640" y="4206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0" name="Text 28"/>
          <p:cNvSpPr txBox="1"/>
          <p:nvPr/>
        </p:nvSpPr>
        <p:spPr>
          <a:xfrm>
            <a:off x="1143000" y="420624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Timeline &amp; Review Plan</a:t>
            </a:r>
            <a:endParaRPr lang="en-US" sz="1500" dirty="0"/>
          </a:p>
        </p:txBody>
      </p:sp>
      <p:sp>
        <p:nvSpPr>
          <p:cNvPr id="31" name="Shape 29"/>
          <p:cNvSpPr/>
          <p:nvPr/>
        </p:nvSpPr>
        <p:spPr>
          <a:xfrm>
            <a:off x="4754880" y="4206240"/>
            <a:ext cx="457200" cy="457200"/>
          </a:xfrm>
          <a:prstGeom prst="ellipse">
            <a:avLst/>
          </a:prstGeom>
          <a:solidFill>
            <a:srgbClr val="4472C4"/>
          </a:solidFill>
          <a:ln w="12700">
            <a:solidFill>
              <a:srgbClr val="4472C4"/>
            </a:solidFill>
            <a:prstDash val="solid"/>
          </a:ln>
        </p:spPr>
      </p:sp>
      <p:sp>
        <p:nvSpPr>
          <p:cNvPr id="32" name="Text 30"/>
          <p:cNvSpPr txBox="1"/>
          <p:nvPr/>
        </p:nvSpPr>
        <p:spPr>
          <a:xfrm>
            <a:off x="4754880" y="4206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3" name="Text 31"/>
          <p:cNvSpPr txBox="1"/>
          <p:nvPr/>
        </p:nvSpPr>
        <p:spPr>
          <a:xfrm>
            <a:off x="5349240" y="4206240"/>
            <a:ext cx="3383280" cy="4572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Expected Outcome &amp; Conclusion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1: INTRODUCTION &amp; DOMAIN BACKGROUND</a:t>
            </a:r>
            <a:endParaRPr lang="en-US" sz="2400" dirty="0"/>
          </a:p>
        </p:txBody>
      </p:sp>
      <p:sp>
        <p:nvSpPr>
          <p:cNvPr id="4" name="Shape 2"/>
          <p:cNvSpPr/>
          <p:nvPr/>
        </p:nvSpPr>
        <p:spPr>
          <a:xfrm>
            <a:off x="457200" y="1005840"/>
            <a:ext cx="8229600" cy="1188720"/>
          </a:xfrm>
          <a:prstGeom prst="rect">
            <a:avLst/>
          </a:prstGeom>
          <a:solidFill>
            <a:srgbClr val="EAF0FA"/>
          </a:solidFill>
          <a:ln w="12700">
            <a:solidFill>
              <a:srgbClr val="EAF0FA"/>
            </a:solidFill>
            <a:prstDash val="solid"/>
          </a:ln>
        </p:spPr>
      </p:sp>
      <p:sp>
        <p:nvSpPr>
          <p:cNvPr id="5" name="Text 3"/>
          <p:cNvSpPr txBox="1"/>
          <p:nvPr/>
        </p:nvSpPr>
        <p:spPr>
          <a:xfrm>
            <a:off x="640080" y="1097280"/>
            <a:ext cx="7863840" cy="320040"/>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What is Healthcare Data Analytics?</a:t>
            </a:r>
            <a:endParaRPr lang="en-US" sz="1600" dirty="0"/>
          </a:p>
        </p:txBody>
      </p:sp>
      <p:sp>
        <p:nvSpPr>
          <p:cNvPr id="6" name="Text 4"/>
          <p:cNvSpPr txBox="1"/>
          <p:nvPr/>
        </p:nvSpPr>
        <p:spPr>
          <a:xfrm>
            <a:off x="640080" y="1463040"/>
            <a:ext cx="7863840" cy="685800"/>
          </a:xfrm>
          <a:prstGeom prst="rect">
            <a:avLst/>
          </a:prstGeom>
          <a:noFill/>
          <a:ln/>
        </p:spPr>
        <p:txBody>
          <a:bodyPr wrap="square" lIns="0" tIns="0" rIns="0" bIns="0" rtlCol="0" anchor="t"/>
          <a:lstStyle/>
          <a:p>
            <a:pPr indent="0" marL="0">
              <a:buNone/>
            </a:pPr>
            <a:r>
              <a:rPr lang="en-US" sz="1300" dirty="0">
                <a:solidFill>
                  <a:srgbClr val="555555"/>
                </a:solidFill>
                <a:latin typeface="Calibri" pitchFamily="34" charset="0"/>
                <a:ea typeface="Calibri" pitchFamily="34" charset="-122"/>
                <a:cs typeface="Calibri" pitchFamily="34" charset="-120"/>
              </a:rPr>
              <a:t>Healthcare data analytics applies machine learning algorithms to patient health records to extract meaningful patterns and support clinical decision-making. It enables early disease detection through supervised learning models trained on historical patient outcomes.</a:t>
            </a:r>
            <a:endParaRPr lang="en-US" sz="1300" dirty="0"/>
          </a:p>
        </p:txBody>
      </p:sp>
      <p:sp>
        <p:nvSpPr>
          <p:cNvPr id="7" name="Shape 5"/>
          <p:cNvSpPr/>
          <p:nvPr/>
        </p:nvSpPr>
        <p:spPr>
          <a:xfrm>
            <a:off x="457200" y="2331720"/>
            <a:ext cx="8229600" cy="1188720"/>
          </a:xfrm>
          <a:prstGeom prst="rect">
            <a:avLst/>
          </a:prstGeom>
          <a:solidFill>
            <a:srgbClr val="EAF0FA"/>
          </a:solidFill>
          <a:ln w="12700">
            <a:solidFill>
              <a:srgbClr val="EAF0FA"/>
            </a:solidFill>
            <a:prstDash val="solid"/>
          </a:ln>
        </p:spPr>
      </p:sp>
      <p:sp>
        <p:nvSpPr>
          <p:cNvPr id="8" name="Text 6"/>
          <p:cNvSpPr txBox="1"/>
          <p:nvPr/>
        </p:nvSpPr>
        <p:spPr>
          <a:xfrm>
            <a:off x="640080" y="2423160"/>
            <a:ext cx="7863840" cy="320040"/>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Why is Heart Disease a Critical Focus?</a:t>
            </a:r>
            <a:endParaRPr lang="en-US" sz="1600" dirty="0"/>
          </a:p>
        </p:txBody>
      </p:sp>
      <p:sp>
        <p:nvSpPr>
          <p:cNvPr id="9" name="Text 7"/>
          <p:cNvSpPr txBox="1"/>
          <p:nvPr/>
        </p:nvSpPr>
        <p:spPr>
          <a:xfrm>
            <a:off x="640080" y="2788920"/>
            <a:ext cx="7863840" cy="685800"/>
          </a:xfrm>
          <a:prstGeom prst="rect">
            <a:avLst/>
          </a:prstGeom>
          <a:noFill/>
          <a:ln/>
        </p:spPr>
        <p:txBody>
          <a:bodyPr wrap="square" lIns="0" tIns="0" rIns="0" bIns="0" rtlCol="0" anchor="t"/>
          <a:lstStyle/>
          <a:p>
            <a:pPr indent="0" marL="0">
              <a:buNone/>
            </a:pPr>
            <a:r>
              <a:rPr lang="en-US" sz="1300" dirty="0">
                <a:solidFill>
                  <a:srgbClr val="555555"/>
                </a:solidFill>
                <a:latin typeface="Calibri" pitchFamily="34" charset="0"/>
                <a:ea typeface="Calibri" pitchFamily="34" charset="-122"/>
                <a:cs typeface="Calibri" pitchFamily="34" charset="-120"/>
              </a:rPr>
              <a:t>Cardiovascular diseases remain the leading cause of death globally, accounting for ~17.9 million deaths annually [1]. Early detection through predictive analytics can reduce mortality rates by enabling timely medical interventions and lifestyle modifications.</a:t>
            </a:r>
            <a:endParaRPr lang="en-US" sz="1300" dirty="0"/>
          </a:p>
        </p:txBody>
      </p:sp>
      <p:sp>
        <p:nvSpPr>
          <p:cNvPr id="10" name="Shape 8"/>
          <p:cNvSpPr/>
          <p:nvPr/>
        </p:nvSpPr>
        <p:spPr>
          <a:xfrm>
            <a:off x="457200" y="3657600"/>
            <a:ext cx="8229600" cy="1188720"/>
          </a:xfrm>
          <a:prstGeom prst="rect">
            <a:avLst/>
          </a:prstGeom>
          <a:solidFill>
            <a:srgbClr val="EAF0FA"/>
          </a:solidFill>
          <a:ln w="12700">
            <a:solidFill>
              <a:srgbClr val="EAF0FA"/>
            </a:solidFill>
            <a:prstDash val="solid"/>
          </a:ln>
        </p:spPr>
      </p:sp>
      <p:sp>
        <p:nvSpPr>
          <p:cNvPr id="11" name="Text 9"/>
          <p:cNvSpPr txBox="1"/>
          <p:nvPr/>
        </p:nvSpPr>
        <p:spPr>
          <a:xfrm>
            <a:off x="640080" y="3749040"/>
            <a:ext cx="7863840" cy="320040"/>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Where Does Our Project Sit?</a:t>
            </a:r>
            <a:endParaRPr lang="en-US" sz="1600" dirty="0"/>
          </a:p>
        </p:txBody>
      </p:sp>
      <p:sp>
        <p:nvSpPr>
          <p:cNvPr id="12" name="Text 10"/>
          <p:cNvSpPr txBox="1"/>
          <p:nvPr/>
        </p:nvSpPr>
        <p:spPr>
          <a:xfrm>
            <a:off x="640080" y="4114800"/>
            <a:ext cx="7863840" cy="685800"/>
          </a:xfrm>
          <a:prstGeom prst="rect">
            <a:avLst/>
          </a:prstGeom>
          <a:noFill/>
          <a:ln/>
        </p:spPr>
        <p:txBody>
          <a:bodyPr wrap="square" lIns="0" tIns="0" rIns="0" bIns="0" rtlCol="0" anchor="t"/>
          <a:lstStyle/>
          <a:p>
            <a:pPr indent="0" marL="0">
              <a:buNone/>
            </a:pPr>
            <a:r>
              <a:rPr lang="en-US" sz="1300" dirty="0">
                <a:solidFill>
                  <a:srgbClr val="555555"/>
                </a:solidFill>
                <a:latin typeface="Calibri" pitchFamily="34" charset="0"/>
                <a:ea typeface="Calibri" pitchFamily="34" charset="-122"/>
                <a:cs typeface="Calibri" pitchFamily="34" charset="-120"/>
              </a:rPr>
              <a:t>Our project bridges the gap between literature review and practical implementation by developing a Python-based Heart Disease Prediction System that compares multiple machine learning classifiers on a standardized dataset with comprehensive evaluation metrics.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2: PROBLEM STATEMENT &amp; MOTIVATION</a:t>
            </a:r>
            <a:endParaRPr lang="en-US" sz="2400" dirty="0"/>
          </a:p>
        </p:txBody>
      </p:sp>
      <p:sp>
        <p:nvSpPr>
          <p:cNvPr id="4" name="Shape 2"/>
          <p:cNvSpPr/>
          <p:nvPr/>
        </p:nvSpPr>
        <p:spPr>
          <a:xfrm>
            <a:off x="457200" y="914400"/>
            <a:ext cx="8229600" cy="1051560"/>
          </a:xfrm>
          <a:prstGeom prst="rect">
            <a:avLst/>
          </a:prstGeom>
          <a:solidFill>
            <a:srgbClr val="1F4E79"/>
          </a:solidFill>
          <a:ln w="12700">
            <a:solidFill>
              <a:srgbClr val="1F4E79"/>
            </a:solidFill>
            <a:prstDash val="solid"/>
          </a:ln>
        </p:spPr>
      </p:sp>
      <p:sp>
        <p:nvSpPr>
          <p:cNvPr id="5" name="Text 3"/>
          <p:cNvSpPr txBox="1"/>
          <p:nvPr/>
        </p:nvSpPr>
        <p:spPr>
          <a:xfrm>
            <a:off x="685800" y="914400"/>
            <a:ext cx="7772400" cy="105156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"Existing machine learning studies for heart disease prediction use inconsistent datasets, preprocessing procedures, and evaluation metrics, making direct model comparison impossible and preventing practitioners from selecting suitable algorithms for new applications."</a:t>
            </a:r>
            <a:endParaRPr lang="en-US" sz="1300" dirty="0"/>
          </a:p>
        </p:txBody>
      </p:sp>
      <p:sp>
        <p:nvSpPr>
          <p:cNvPr id="6" name="Shape 4"/>
          <p:cNvSpPr/>
          <p:nvPr/>
        </p:nvSpPr>
        <p:spPr>
          <a:xfrm>
            <a:off x="457200" y="2240280"/>
            <a:ext cx="2560320" cy="2514600"/>
          </a:xfrm>
          <a:prstGeom prst="rect">
            <a:avLst/>
          </a:prstGeom>
          <a:solidFill>
            <a:srgbClr val="EAF0FA"/>
          </a:solidFill>
          <a:ln w="12700">
            <a:solidFill>
              <a:srgbClr val="EAF0FA"/>
            </a:solidFill>
            <a:prstDash val="solid"/>
          </a:ln>
        </p:spPr>
      </p:sp>
      <p:sp>
        <p:nvSpPr>
          <p:cNvPr id="7" name="Text 5"/>
          <p:cNvSpPr txBox="1"/>
          <p:nvPr/>
        </p:nvSpPr>
        <p:spPr>
          <a:xfrm>
            <a:off x="594360" y="2331720"/>
            <a:ext cx="2286000" cy="365760"/>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Who is Affected?</a:t>
            </a:r>
            <a:endParaRPr lang="en-US" sz="1500" dirty="0"/>
          </a:p>
        </p:txBody>
      </p:sp>
      <p:sp>
        <p:nvSpPr>
          <p:cNvPr id="8" name="Text 6"/>
          <p:cNvSpPr txBox="1"/>
          <p:nvPr/>
        </p:nvSpPr>
        <p:spPr>
          <a:xfrm>
            <a:off x="594360" y="2743200"/>
            <a:ext cx="2286000" cy="192024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Patients awaiting cardiac screening, healthcare providers needing decision support, and institutions requiring reproducible prediction systems.</a:t>
            </a:r>
            <a:endParaRPr lang="en-US" sz="1200" dirty="0"/>
          </a:p>
        </p:txBody>
      </p:sp>
      <p:sp>
        <p:nvSpPr>
          <p:cNvPr id="9" name="Shape 7"/>
          <p:cNvSpPr/>
          <p:nvPr/>
        </p:nvSpPr>
        <p:spPr>
          <a:xfrm>
            <a:off x="3291840" y="2240280"/>
            <a:ext cx="2560320" cy="2514600"/>
          </a:xfrm>
          <a:prstGeom prst="rect">
            <a:avLst/>
          </a:prstGeom>
          <a:solidFill>
            <a:srgbClr val="EAF0FA"/>
          </a:solidFill>
          <a:ln w="12700">
            <a:solidFill>
              <a:srgbClr val="EAF0FA"/>
            </a:solidFill>
            <a:prstDash val="solid"/>
          </a:ln>
        </p:spPr>
      </p:sp>
      <p:sp>
        <p:nvSpPr>
          <p:cNvPr id="10" name="Text 8"/>
          <p:cNvSpPr txBox="1"/>
          <p:nvPr/>
        </p:nvSpPr>
        <p:spPr>
          <a:xfrm>
            <a:off x="3429000" y="2331720"/>
            <a:ext cx="2286000" cy="365760"/>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What is the Cost?</a:t>
            </a:r>
            <a:endParaRPr lang="en-US" sz="1500" dirty="0"/>
          </a:p>
        </p:txBody>
      </p:sp>
      <p:sp>
        <p:nvSpPr>
          <p:cNvPr id="11" name="Text 9"/>
          <p:cNvSpPr txBox="1"/>
          <p:nvPr/>
        </p:nvSpPr>
        <p:spPr>
          <a:xfrm>
            <a:off x="3429000" y="2743200"/>
            <a:ext cx="2286000" cy="192024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Delayed diagnosis increases mortality risk by 25-40%. Inconsistent model selection across institutions leads to suboptimal accuracy (80-95% reported), affecting millions of screenings annually.</a:t>
            </a:r>
            <a:endParaRPr lang="en-US" sz="1200" dirty="0"/>
          </a:p>
        </p:txBody>
      </p:sp>
      <p:sp>
        <p:nvSpPr>
          <p:cNvPr id="12" name="Shape 10"/>
          <p:cNvSpPr/>
          <p:nvPr/>
        </p:nvSpPr>
        <p:spPr>
          <a:xfrm>
            <a:off x="6126480" y="2240280"/>
            <a:ext cx="2560320" cy="2514600"/>
          </a:xfrm>
          <a:prstGeom prst="rect">
            <a:avLst/>
          </a:prstGeom>
          <a:solidFill>
            <a:srgbClr val="EAF0FA"/>
          </a:solidFill>
          <a:ln w="12700">
            <a:solidFill>
              <a:srgbClr val="EAF0FA"/>
            </a:solidFill>
            <a:prstDash val="solid"/>
          </a:ln>
        </p:spPr>
      </p:sp>
      <p:sp>
        <p:nvSpPr>
          <p:cNvPr id="13" name="Text 11"/>
          <p:cNvSpPr txBox="1"/>
          <p:nvPr/>
        </p:nvSpPr>
        <p:spPr>
          <a:xfrm>
            <a:off x="6263640" y="2331720"/>
            <a:ext cx="2286000" cy="365760"/>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Why Now?</a:t>
            </a:r>
            <a:endParaRPr lang="en-US" sz="1500" dirty="0"/>
          </a:p>
        </p:txBody>
      </p:sp>
      <p:sp>
        <p:nvSpPr>
          <p:cNvPr id="14" name="Text 12"/>
          <p:cNvSpPr txBox="1"/>
          <p:nvPr/>
        </p:nvSpPr>
        <p:spPr>
          <a:xfrm>
            <a:off x="6263640" y="2743200"/>
            <a:ext cx="2286000" cy="192024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2023-2024 studies reveal a critical methodological gap: no standardized framework compares algorithms on identical datasets with consistent evaluation.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3: LITERATURE SURVEY</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914400"/>
        </p:xfrm>
        <a:graphic>
          <a:graphicData uri="http://schemas.openxmlformats.org/drawingml/2006/table">
            <a:tbl>
              <a:tblPr/>
              <a:tblGrid>
                <a:gridCol w="1234440"/>
                <a:gridCol w="502920"/>
                <a:gridCol w="960120"/>
                <a:gridCol w="1600200"/>
                <a:gridCol w="2194560"/>
                <a:gridCol w="192024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Year</a:t>
                      </a:r>
                      <a:endParaRPr lang="en-US" sz="110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Algorithms</a:t>
                      </a:r>
                      <a:endParaRPr lang="en-US" sz="110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Limitation</a:t>
                      </a:r>
                      <a:endParaRPr lang="en-US" sz="110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1F4E79"/>
                    </a:solidFill>
                  </a:tcPr>
                </a:tc>
              </a:tr>
              <a:tr h="566928">
                <a:tc>
                  <a:txBody>
                    <a:bodyPr/>
                    <a:lstStyle/>
                    <a:p>
                      <a:pPr indent="0" marL="0">
                        <a:buNone/>
                      </a:pPr>
                      <a:r>
                        <a:rPr lang="en-US" sz="1050" b="1" dirty="0">
                          <a:solidFill>
                            <a:srgbClr val="222222"/>
                          </a:solidFill>
                          <a:latin typeface="Calibri" pitchFamily="34" charset="0"/>
                          <a:ea typeface="Calibri" pitchFamily="34" charset="-122"/>
                          <a:cs typeface="Calibri" pitchFamily="34" charset="-120"/>
                        </a:rPr>
                        <a:t>Savita et al. [1]</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LR, KNN, SVM, RF, ANN</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Surveys ML techniques for cardiovascular disease prediction</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C0392B"/>
                          </a:solidFill>
                          <a:latin typeface="Calibri" pitchFamily="34" charset="0"/>
                          <a:ea typeface="Calibri" pitchFamily="34" charset="-122"/>
                          <a:cs typeface="Calibri" pitchFamily="34" charset="-120"/>
                        </a:rPr>
                        <a:t>No implementation or experiments</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222222"/>
                          </a:solidFill>
                          <a:latin typeface="Calibri" pitchFamily="34" charset="0"/>
                          <a:ea typeface="Calibri" pitchFamily="34" charset="-122"/>
                          <a:cs typeface="Calibri" pitchFamily="34" charset="-120"/>
                        </a:rPr>
                        <a:t>Sreekumari et al. [2]</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KNN, SVM, ANN, LR, DT, RF</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Outlines the common ML workflow for heart disease prediction</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C0392B"/>
                          </a:solidFill>
                          <a:latin typeface="Calibri" pitchFamily="34" charset="0"/>
                          <a:ea typeface="Calibri" pitchFamily="34" charset="-122"/>
                          <a:cs typeface="Calibri" pitchFamily="34" charset="-120"/>
                        </a:rPr>
                        <a:t>No unified comparison; workflow only described</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222222"/>
                          </a:solidFill>
                          <a:latin typeface="Calibri" pitchFamily="34" charset="0"/>
                          <a:ea typeface="Calibri" pitchFamily="34" charset="-122"/>
                          <a:cs typeface="Calibri" pitchFamily="34" charset="-120"/>
                        </a:rPr>
                        <a:t>Boer et al. [3]</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Comparative</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KNN, RF, GNB, XGBoost, SVM, DT, LR</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KNN reached 89% on 303 records, multi-metric evaluation</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C0392B"/>
                          </a:solidFill>
                          <a:latin typeface="Calibri" pitchFamily="34" charset="0"/>
                          <a:ea typeface="Calibri" pitchFamily="34" charset="-122"/>
                          <a:cs typeface="Calibri" pitchFamily="34" charset="-120"/>
                        </a:rPr>
                        <a:t>Single dataset; preprocessing not standardized</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222222"/>
                          </a:solidFill>
                          <a:latin typeface="Calibri" pitchFamily="34" charset="0"/>
                          <a:ea typeface="Calibri" pitchFamily="34" charset="-122"/>
                          <a:cs typeface="Calibri" pitchFamily="34" charset="-120"/>
                        </a:rPr>
                        <a:t>Kamal et al. [4]</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2024</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Practical (Python)</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KNN, DT, LR, SVM</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95.7% accuracy on UCI data</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c>
                  <a:txBody>
                    <a:bodyPr/>
                    <a:lstStyle/>
                    <a:p>
                      <a:pPr indent="0" marL="0">
                        <a:buNone/>
                      </a:pPr>
                      <a:r>
                        <a:rPr lang="en-US" sz="1050" dirty="0">
                          <a:solidFill>
                            <a:srgbClr val="C0392B"/>
                          </a:solidFill>
                          <a:latin typeface="Calibri" pitchFamily="34" charset="0"/>
                          <a:ea typeface="Calibri" pitchFamily="34" charset="-122"/>
                          <a:cs typeface="Calibri" pitchFamily="34" charset="-120"/>
                        </a:rPr>
                        <a:t>Methodology poorly documented; hard to reproduce</a:t>
                      </a:r>
                      <a:endParaRPr lang="en-US" sz="1050" dirty="0">
                        <a:latin typeface="Calibri" charset="0"/>
                        <a:ea typeface="Calibri" charset="0"/>
                        <a:cs typeface="Calibri" charset="0"/>
                      </a:endParaRPr>
                    </a:p>
                  </a:txBody>
                  <a:tcPr marL="64008" marR="64008" marT="36576" marB="36576" anchor="ctr">
                    <a:lnL w="9525" cap="flat" cmpd="sng" algn="ctr">
                      <a:solidFill>
                        <a:srgbClr val="B7C7E3"/>
                      </a:solidFill>
                      <a:prstDash val="solid"/>
                      <a:round/>
                      <a:headEnd type="none" w="med" len="med"/>
                      <a:tailEnd type="none" w="med" len="med"/>
                    </a:lnL>
                    <a:lnR w="9525" cap="flat" cmpd="sng" algn="ctr">
                      <a:solidFill>
                        <a:srgbClr val="B7C7E3"/>
                      </a:solidFill>
                      <a:prstDash val="solid"/>
                      <a:round/>
                      <a:headEnd type="none" w="med" len="med"/>
                      <a:tailEnd type="none" w="med" len="med"/>
                    </a:lnR>
                    <a:lnT w="9525" cap="flat" cmpd="sng" algn="ctr">
                      <a:solidFill>
                        <a:srgbClr val="B7C7E3"/>
                      </a:solidFill>
                      <a:prstDash val="solid"/>
                      <a:round/>
                      <a:headEnd type="none" w="med" len="med"/>
                      <a:tailEnd type="none" w="med" len="med"/>
                    </a:lnT>
                    <a:lnB w="9525" cap="flat" cmpd="sng" algn="ctr">
                      <a:solidFill>
                        <a:srgbClr val="B7C7E3"/>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3749040"/>
            <a:ext cx="8412480" cy="960120"/>
          </a:xfrm>
          <a:prstGeom prst="rect">
            <a:avLst/>
          </a:prstGeom>
          <a:solidFill>
            <a:srgbClr val="EAF0FA"/>
          </a:solidFill>
          <a:ln w="12700">
            <a:solidFill>
              <a:srgbClr val="4472C4"/>
            </a:solidFill>
            <a:prstDash val="solid"/>
          </a:ln>
        </p:spPr>
      </p:sp>
      <p:sp>
        <p:nvSpPr>
          <p:cNvPr id="6" name="Text 3"/>
          <p:cNvSpPr txBox="1"/>
          <p:nvPr/>
        </p:nvSpPr>
        <p:spPr>
          <a:xfrm>
            <a:off x="548640" y="3749040"/>
            <a:ext cx="8046720" cy="960120"/>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Takeaway: </a:t>
            </a:r>
            <a:pPr indent="0" marL="0">
              <a:buNone/>
            </a:pPr>
            <a:r>
              <a:rPr lang="en-US" sz="1300" dirty="0">
                <a:solidFill>
                  <a:srgbClr val="222222"/>
                </a:solidFill>
                <a:latin typeface="Calibri" pitchFamily="34" charset="0"/>
                <a:ea typeface="Calibri" pitchFamily="34" charset="-122"/>
                <a:cs typeface="Calibri" pitchFamily="34" charset="-120"/>
              </a:rPr>
              <a:t>Reviews give breadth but no experiments. Practical studies report accuracy but use different data and preprocessing, so results cannot be compared directly. This motivates our standardized, reproducible comparison.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4: RESEARCH GAP IDENTIFIED</a:t>
            </a:r>
            <a:endParaRPr lang="en-US" sz="2400" dirty="0"/>
          </a:p>
        </p:txBody>
      </p:sp>
      <p:sp>
        <p:nvSpPr>
          <p:cNvPr id="4" name="Shape 2"/>
          <p:cNvSpPr/>
          <p:nvPr/>
        </p:nvSpPr>
        <p:spPr>
          <a:xfrm>
            <a:off x="457200" y="960120"/>
            <a:ext cx="8229600" cy="1143000"/>
          </a:xfrm>
          <a:prstGeom prst="rect">
            <a:avLst/>
          </a:prstGeom>
          <a:solidFill>
            <a:srgbClr val="FDECEA"/>
          </a:solidFill>
          <a:ln w="12700">
            <a:solidFill>
              <a:srgbClr val="C0392B"/>
            </a:solidFill>
            <a:prstDash val="solid"/>
          </a:ln>
        </p:spPr>
      </p:sp>
      <p:sp>
        <p:nvSpPr>
          <p:cNvPr id="5" name="Text 3"/>
          <p:cNvSpPr txBox="1"/>
          <p:nvPr/>
        </p:nvSpPr>
        <p:spPr>
          <a:xfrm>
            <a:off x="640080" y="1051560"/>
            <a:ext cx="7863840" cy="320040"/>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GAP 1: No Standardized Comparison Framework</a:t>
            </a:r>
            <a:endParaRPr lang="en-US" sz="1500" dirty="0"/>
          </a:p>
        </p:txBody>
      </p:sp>
      <p:sp>
        <p:nvSpPr>
          <p:cNvPr id="6" name="Text 4"/>
          <p:cNvSpPr txBox="1"/>
          <p:nvPr/>
        </p:nvSpPr>
        <p:spPr>
          <a:xfrm>
            <a:off x="640080" y="1417320"/>
            <a:ext cx="7863840" cy="640080"/>
          </a:xfrm>
          <a:prstGeom prst="rect">
            <a:avLst/>
          </a:prstGeom>
          <a:noFill/>
          <a:ln/>
        </p:spPr>
        <p:txBody>
          <a:bodyPr wrap="square" lIns="0" tIns="0" rIns="0" bIns="0" rtlCol="0" anchor="t"/>
          <a:lstStyle/>
          <a:p>
            <a:pPr indent="0" marL="0">
              <a:buNone/>
            </a:pPr>
            <a:r>
              <a:rPr lang="en-US" sz="1250" dirty="0">
                <a:solidFill>
                  <a:srgbClr val="222222"/>
                </a:solidFill>
                <a:latin typeface="Calibri" pitchFamily="34" charset="0"/>
                <a:ea typeface="Calibri" pitchFamily="34" charset="-122"/>
                <a:cs typeface="Calibri" pitchFamily="34" charset="-120"/>
              </a:rPr>
              <a:t>Existing papers use different datasets and preprocessing procedures. No single study compares algorithms under identical experimental conditions on a common dataset [Boer et al., 2023].</a:t>
            </a:r>
            <a:endParaRPr lang="en-US" sz="1250" dirty="0"/>
          </a:p>
        </p:txBody>
      </p:sp>
      <p:sp>
        <p:nvSpPr>
          <p:cNvPr id="7" name="Shape 5"/>
          <p:cNvSpPr/>
          <p:nvPr/>
        </p:nvSpPr>
        <p:spPr>
          <a:xfrm>
            <a:off x="457200" y="2240280"/>
            <a:ext cx="8229600" cy="1143000"/>
          </a:xfrm>
          <a:prstGeom prst="rect">
            <a:avLst/>
          </a:prstGeom>
          <a:solidFill>
            <a:srgbClr val="FDECEA"/>
          </a:solidFill>
          <a:ln w="12700">
            <a:solidFill>
              <a:srgbClr val="C0392B"/>
            </a:solidFill>
            <a:prstDash val="solid"/>
          </a:ln>
        </p:spPr>
      </p:sp>
      <p:sp>
        <p:nvSpPr>
          <p:cNvPr id="8" name="Text 6"/>
          <p:cNvSpPr txBox="1"/>
          <p:nvPr/>
        </p:nvSpPr>
        <p:spPr>
          <a:xfrm>
            <a:off x="640080" y="2331720"/>
            <a:ext cx="7863840" cy="320040"/>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GAP 2: Inconsistent Evaluation Metrics</a:t>
            </a:r>
            <a:endParaRPr lang="en-US" sz="1500" dirty="0"/>
          </a:p>
        </p:txBody>
      </p:sp>
      <p:sp>
        <p:nvSpPr>
          <p:cNvPr id="9" name="Text 7"/>
          <p:cNvSpPr txBox="1"/>
          <p:nvPr/>
        </p:nvSpPr>
        <p:spPr>
          <a:xfrm>
            <a:off x="640080" y="2697480"/>
            <a:ext cx="7863840" cy="640080"/>
          </a:xfrm>
          <a:prstGeom prst="rect">
            <a:avLst/>
          </a:prstGeom>
          <a:noFill/>
          <a:ln/>
        </p:spPr>
        <p:txBody>
          <a:bodyPr wrap="square" lIns="0" tIns="0" rIns="0" bIns="0" rtlCol="0" anchor="t"/>
          <a:lstStyle/>
          <a:p>
            <a:pPr indent="0" marL="0">
              <a:buNone/>
            </a:pPr>
            <a:r>
              <a:rPr lang="en-US" sz="1250" dirty="0">
                <a:solidFill>
                  <a:srgbClr val="222222"/>
                </a:solidFill>
                <a:latin typeface="Calibri" pitchFamily="34" charset="0"/>
                <a:ea typeface="Calibri" pitchFamily="34" charset="-122"/>
                <a:cs typeface="Calibri" pitchFamily="34" charset="-120"/>
              </a:rPr>
              <a:t>Most studies emphasize accuracy alone. Multi-metric evaluation (precision, recall, F1-score) is rarely reported, limiting understanding of model behavior in clinical settings [Boer et al., 2023].</a:t>
            </a:r>
            <a:endParaRPr lang="en-US" sz="1250" dirty="0"/>
          </a:p>
        </p:txBody>
      </p:sp>
      <p:sp>
        <p:nvSpPr>
          <p:cNvPr id="10" name="Shape 8"/>
          <p:cNvSpPr/>
          <p:nvPr/>
        </p:nvSpPr>
        <p:spPr>
          <a:xfrm>
            <a:off x="457200" y="3520440"/>
            <a:ext cx="8229600" cy="1143000"/>
          </a:xfrm>
          <a:prstGeom prst="rect">
            <a:avLst/>
          </a:prstGeom>
          <a:solidFill>
            <a:srgbClr val="FDECEA"/>
          </a:solidFill>
          <a:ln w="12700">
            <a:solidFill>
              <a:srgbClr val="C0392B"/>
            </a:solidFill>
            <a:prstDash val="solid"/>
          </a:ln>
        </p:spPr>
      </p:sp>
      <p:sp>
        <p:nvSpPr>
          <p:cNvPr id="11" name="Text 9"/>
          <p:cNvSpPr txBox="1"/>
          <p:nvPr/>
        </p:nvSpPr>
        <p:spPr>
          <a:xfrm>
            <a:off x="640080" y="3611880"/>
            <a:ext cx="7863840" cy="320040"/>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GAP 3: Missing Reproducible Implementation</a:t>
            </a:r>
            <a:endParaRPr lang="en-US" sz="1500" dirty="0"/>
          </a:p>
        </p:txBody>
      </p:sp>
      <p:sp>
        <p:nvSpPr>
          <p:cNvPr id="12" name="Text 10"/>
          <p:cNvSpPr txBox="1"/>
          <p:nvPr/>
        </p:nvSpPr>
        <p:spPr>
          <a:xfrm>
            <a:off x="640080" y="3977640"/>
            <a:ext cx="7863840" cy="640080"/>
          </a:xfrm>
          <a:prstGeom prst="rect">
            <a:avLst/>
          </a:prstGeom>
          <a:noFill/>
          <a:ln/>
        </p:spPr>
        <p:txBody>
          <a:bodyPr wrap="square" lIns="0" tIns="0" rIns="0" bIns="0" rtlCol="0" anchor="t"/>
          <a:lstStyle/>
          <a:p>
            <a:pPr indent="0" marL="0">
              <a:buNone/>
            </a:pPr>
            <a:r>
              <a:rPr lang="en-US" sz="1250" dirty="0">
                <a:solidFill>
                  <a:srgbClr val="222222"/>
                </a:solidFill>
                <a:latin typeface="Calibri" pitchFamily="34" charset="0"/>
                <a:ea typeface="Calibri" pitchFamily="34" charset="-122"/>
                <a:cs typeface="Calibri" pitchFamily="34" charset="-120"/>
              </a:rPr>
              <a:t>Review papers lack end-to-end implementations. Practical systems (Kamal et al., 2024) exist but lack comprehensive methodology documentation. No framework links methodology to reproducible code [Kamal et al., 2024].</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5: OBJECTIVES OF THE PROJECT</a:t>
            </a:r>
            <a:endParaRPr lang="en-US" sz="2400" dirty="0"/>
          </a:p>
        </p:txBody>
      </p:sp>
      <p:sp>
        <p:nvSpPr>
          <p:cNvPr id="4" name="Shape 2"/>
          <p:cNvSpPr/>
          <p:nvPr/>
        </p:nvSpPr>
        <p:spPr>
          <a:xfrm>
            <a:off x="457200" y="960120"/>
            <a:ext cx="731520" cy="822960"/>
          </a:xfrm>
          <a:prstGeom prst="rect">
            <a:avLst/>
          </a:prstGeom>
          <a:solidFill>
            <a:srgbClr val="4472C4"/>
          </a:solidFill>
          <a:ln w="12700">
            <a:solidFill>
              <a:srgbClr val="4472C4"/>
            </a:solidFill>
            <a:prstDash val="solid"/>
          </a:ln>
        </p:spPr>
      </p:sp>
      <p:sp>
        <p:nvSpPr>
          <p:cNvPr id="5" name="Text 3"/>
          <p:cNvSpPr txBox="1"/>
          <p:nvPr/>
        </p:nvSpPr>
        <p:spPr>
          <a:xfrm>
            <a:off x="457200" y="960120"/>
            <a:ext cx="73152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Text 4"/>
          <p:cNvSpPr txBox="1"/>
          <p:nvPr/>
        </p:nvSpPr>
        <p:spPr>
          <a:xfrm>
            <a:off x="1371600" y="960120"/>
            <a:ext cx="7315200" cy="320040"/>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Prepare the Heart Disease Dataset</a:t>
            </a:r>
            <a:endParaRPr lang="en-US" sz="1500" dirty="0"/>
          </a:p>
        </p:txBody>
      </p:sp>
      <p:sp>
        <p:nvSpPr>
          <p:cNvPr id="7" name="Text 5"/>
          <p:cNvSpPr txBox="1"/>
          <p:nvPr/>
        </p:nvSpPr>
        <p:spPr>
          <a:xfrm>
            <a:off x="1371600" y="1307592"/>
            <a:ext cx="7315200" cy="502920"/>
          </a:xfrm>
          <a:prstGeom prst="rect">
            <a:avLst/>
          </a:prstGeom>
          <a:noFill/>
          <a:ln/>
        </p:spPr>
        <p:txBody>
          <a:bodyPr wrap="square" lIns="0" tIns="0" rIns="0" bIns="0" rtlCol="0" anchor="t"/>
          <a:lstStyle/>
          <a:p>
            <a:pPr indent="0" marL="0">
              <a:buNone/>
            </a:pPr>
            <a:r>
              <a:rPr lang="en-US" sz="1250" dirty="0">
                <a:solidFill>
                  <a:srgbClr val="555555"/>
                </a:solidFill>
                <a:latin typeface="Calibri" pitchFamily="34" charset="0"/>
                <a:ea typeface="Calibri" pitchFamily="34" charset="-122"/>
                <a:cs typeface="Calibri" pitchFamily="34" charset="-120"/>
              </a:rPr>
              <a:t>Load, preprocess, encode categorical variables, and normalize numerical features from the UCI heart disease dataset (303 records, 13 clinical features).</a:t>
            </a:r>
            <a:endParaRPr lang="en-US" sz="1250" dirty="0"/>
          </a:p>
        </p:txBody>
      </p:sp>
      <p:sp>
        <p:nvSpPr>
          <p:cNvPr id="8" name="Shape 6"/>
          <p:cNvSpPr/>
          <p:nvPr/>
        </p:nvSpPr>
        <p:spPr>
          <a:xfrm>
            <a:off x="457200" y="1920240"/>
            <a:ext cx="731520" cy="822960"/>
          </a:xfrm>
          <a:prstGeom prst="rect">
            <a:avLst/>
          </a:prstGeom>
          <a:solidFill>
            <a:srgbClr val="4472C4"/>
          </a:solidFill>
          <a:ln w="12700">
            <a:solidFill>
              <a:srgbClr val="4472C4"/>
            </a:solidFill>
            <a:prstDash val="solid"/>
          </a:ln>
        </p:spPr>
      </p:sp>
      <p:sp>
        <p:nvSpPr>
          <p:cNvPr id="9" name="Text 7"/>
          <p:cNvSpPr txBox="1"/>
          <p:nvPr/>
        </p:nvSpPr>
        <p:spPr>
          <a:xfrm>
            <a:off x="457200" y="1920240"/>
            <a:ext cx="73152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Text 8"/>
          <p:cNvSpPr txBox="1"/>
          <p:nvPr/>
        </p:nvSpPr>
        <p:spPr>
          <a:xfrm>
            <a:off x="1371600" y="1920240"/>
            <a:ext cx="7315200" cy="320040"/>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Implement Multiple ML Classifiers</a:t>
            </a:r>
            <a:endParaRPr lang="en-US" sz="1500" dirty="0"/>
          </a:p>
        </p:txBody>
      </p:sp>
      <p:sp>
        <p:nvSpPr>
          <p:cNvPr id="11" name="Text 9"/>
          <p:cNvSpPr txBox="1"/>
          <p:nvPr/>
        </p:nvSpPr>
        <p:spPr>
          <a:xfrm>
            <a:off x="1371600" y="2267712"/>
            <a:ext cx="7315200" cy="502920"/>
          </a:xfrm>
          <a:prstGeom prst="rect">
            <a:avLst/>
          </a:prstGeom>
          <a:noFill/>
          <a:ln/>
        </p:spPr>
        <p:txBody>
          <a:bodyPr wrap="square" lIns="0" tIns="0" rIns="0" bIns="0" rtlCol="0" anchor="t"/>
          <a:lstStyle/>
          <a:p>
            <a:pPr indent="0" marL="0">
              <a:buNone/>
            </a:pPr>
            <a:r>
              <a:rPr lang="en-US" sz="1250" dirty="0">
                <a:solidFill>
                  <a:srgbClr val="555555"/>
                </a:solidFill>
                <a:latin typeface="Calibri" pitchFamily="34" charset="0"/>
                <a:ea typeface="Calibri" pitchFamily="34" charset="-122"/>
                <a:cs typeface="Calibri" pitchFamily="34" charset="-120"/>
              </a:rPr>
              <a:t>Develop models using Logistic Regression, KNN, Decision Tree, Random Forest, and SVM under identical train/test conditions.</a:t>
            </a:r>
            <a:endParaRPr lang="en-US" sz="1250" dirty="0"/>
          </a:p>
        </p:txBody>
      </p:sp>
      <p:sp>
        <p:nvSpPr>
          <p:cNvPr id="12" name="Shape 10"/>
          <p:cNvSpPr/>
          <p:nvPr/>
        </p:nvSpPr>
        <p:spPr>
          <a:xfrm>
            <a:off x="457200" y="2880360"/>
            <a:ext cx="731520" cy="822960"/>
          </a:xfrm>
          <a:prstGeom prst="rect">
            <a:avLst/>
          </a:prstGeom>
          <a:solidFill>
            <a:srgbClr val="4472C4"/>
          </a:solidFill>
          <a:ln w="12700">
            <a:solidFill>
              <a:srgbClr val="4472C4"/>
            </a:solidFill>
            <a:prstDash val="solid"/>
          </a:ln>
        </p:spPr>
      </p:sp>
      <p:sp>
        <p:nvSpPr>
          <p:cNvPr id="13" name="Text 11"/>
          <p:cNvSpPr txBox="1"/>
          <p:nvPr/>
        </p:nvSpPr>
        <p:spPr>
          <a:xfrm>
            <a:off x="457200" y="2880360"/>
            <a:ext cx="73152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4" name="Text 12"/>
          <p:cNvSpPr txBox="1"/>
          <p:nvPr/>
        </p:nvSpPr>
        <p:spPr>
          <a:xfrm>
            <a:off x="1371600" y="2880360"/>
            <a:ext cx="7315200" cy="320040"/>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Conduct Comprehensive Evaluation</a:t>
            </a:r>
            <a:endParaRPr lang="en-US" sz="1500" dirty="0"/>
          </a:p>
        </p:txBody>
      </p:sp>
      <p:sp>
        <p:nvSpPr>
          <p:cNvPr id="15" name="Text 13"/>
          <p:cNvSpPr txBox="1"/>
          <p:nvPr/>
        </p:nvSpPr>
        <p:spPr>
          <a:xfrm>
            <a:off x="1371600" y="3227832"/>
            <a:ext cx="7315200" cy="502920"/>
          </a:xfrm>
          <a:prstGeom prst="rect">
            <a:avLst/>
          </a:prstGeom>
          <a:noFill/>
          <a:ln/>
        </p:spPr>
        <p:txBody>
          <a:bodyPr wrap="square" lIns="0" tIns="0" rIns="0" bIns="0" rtlCol="0" anchor="t"/>
          <a:lstStyle/>
          <a:p>
            <a:pPr indent="0" marL="0">
              <a:buNone/>
            </a:pPr>
            <a:r>
              <a:rPr lang="en-US" sz="1250" dirty="0">
                <a:solidFill>
                  <a:srgbClr val="555555"/>
                </a:solidFill>
                <a:latin typeface="Calibri" pitchFamily="34" charset="0"/>
                <a:ea typeface="Calibri" pitchFamily="34" charset="-122"/>
                <a:cs typeface="Calibri" pitchFamily="34" charset="-120"/>
              </a:rPr>
              <a:t>Evaluate all models using accuracy, precision, recall, F1-score, and confusion matrices for fair comparison.</a:t>
            </a:r>
            <a:endParaRPr lang="en-US" sz="1250" dirty="0"/>
          </a:p>
        </p:txBody>
      </p:sp>
      <p:sp>
        <p:nvSpPr>
          <p:cNvPr id="16" name="Shape 14"/>
          <p:cNvSpPr/>
          <p:nvPr/>
        </p:nvSpPr>
        <p:spPr>
          <a:xfrm>
            <a:off x="457200" y="3840480"/>
            <a:ext cx="731520" cy="822960"/>
          </a:xfrm>
          <a:prstGeom prst="rect">
            <a:avLst/>
          </a:prstGeom>
          <a:solidFill>
            <a:srgbClr val="4472C4"/>
          </a:solidFill>
          <a:ln w="12700">
            <a:solidFill>
              <a:srgbClr val="4472C4"/>
            </a:solidFill>
            <a:prstDash val="solid"/>
          </a:ln>
        </p:spPr>
      </p:sp>
      <p:sp>
        <p:nvSpPr>
          <p:cNvPr id="17" name="Text 15"/>
          <p:cNvSpPr txBox="1"/>
          <p:nvPr/>
        </p:nvSpPr>
        <p:spPr>
          <a:xfrm>
            <a:off x="457200" y="3840480"/>
            <a:ext cx="73152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8" name="Text 16"/>
          <p:cNvSpPr txBox="1"/>
          <p:nvPr/>
        </p:nvSpPr>
        <p:spPr>
          <a:xfrm>
            <a:off x="1371600" y="3840480"/>
            <a:ext cx="7315200" cy="320040"/>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Demonstrate with User Interface</a:t>
            </a:r>
            <a:endParaRPr lang="en-US" sz="1500" dirty="0"/>
          </a:p>
        </p:txBody>
      </p:sp>
      <p:sp>
        <p:nvSpPr>
          <p:cNvPr id="19" name="Text 17"/>
          <p:cNvSpPr txBox="1"/>
          <p:nvPr/>
        </p:nvSpPr>
        <p:spPr>
          <a:xfrm>
            <a:off x="1371600" y="4187952"/>
            <a:ext cx="7315200" cy="502920"/>
          </a:xfrm>
          <a:prstGeom prst="rect">
            <a:avLst/>
          </a:prstGeom>
          <a:noFill/>
          <a:ln/>
        </p:spPr>
        <p:txBody>
          <a:bodyPr wrap="square" lIns="0" tIns="0" rIns="0" bIns="0" rtlCol="0" anchor="t"/>
          <a:lstStyle/>
          <a:p>
            <a:pPr indent="0" marL="0">
              <a:buNone/>
            </a:pPr>
            <a:r>
              <a:rPr lang="en-US" sz="1250" dirty="0">
                <a:solidFill>
                  <a:srgbClr val="555555"/>
                </a:solidFill>
                <a:latin typeface="Calibri" pitchFamily="34" charset="0"/>
                <a:ea typeface="Calibri" pitchFamily="34" charset="-122"/>
                <a:cs typeface="Calibri" pitchFamily="34" charset="-120"/>
              </a:rPr>
              <a:t>Create a Python-based interface allowing users to input patient data and receive heart disease risk predictions with model confidence scores.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6: PROPOSED SYSTEM ARCHITECTURE</a:t>
            </a:r>
            <a:endParaRPr lang="en-US" sz="2400" dirty="0"/>
          </a:p>
        </p:txBody>
      </p:sp>
      <p:sp>
        <p:nvSpPr>
          <p:cNvPr id="4" name="Shape 2"/>
          <p:cNvSpPr/>
          <p:nvPr/>
        </p:nvSpPr>
        <p:spPr>
          <a:xfrm>
            <a:off x="457200" y="960120"/>
            <a:ext cx="1737360" cy="731520"/>
          </a:xfrm>
          <a:prstGeom prst="roundRect">
            <a:avLst>
              <a:gd name="adj" fmla="val 10000"/>
            </a:avLst>
          </a:prstGeom>
          <a:solidFill>
            <a:srgbClr val="EAF0FA"/>
          </a:solidFill>
          <a:ln w="12700">
            <a:solidFill>
              <a:srgbClr val="4472C4"/>
            </a:solidFill>
            <a:prstDash val="solid"/>
          </a:ln>
        </p:spPr>
      </p:sp>
      <p:sp>
        <p:nvSpPr>
          <p:cNvPr id="5" name="Text 3"/>
          <p:cNvSpPr txBox="1"/>
          <p:nvPr/>
        </p:nvSpPr>
        <p:spPr>
          <a:xfrm>
            <a:off x="457200" y="960120"/>
            <a:ext cx="1737360" cy="731520"/>
          </a:xfrm>
          <a:prstGeom prst="rect">
            <a:avLst/>
          </a:prstGeom>
          <a:noFill/>
          <a:ln/>
        </p:spPr>
        <p:txBody>
          <a:bodyPr wrap="square" lIns="0" tIns="0" rIns="0" bIns="0"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Patient</a:t>
            </a:r>
            <a:endParaRPr lang="en-US" sz="1200" dirty="0"/>
          </a:p>
          <a:p>
            <a:pPr algn="ctr" indent="0" marL="0">
              <a:buNone/>
            </a:pPr>
            <a:r>
              <a:rPr lang="en-US" sz="1200" b="1" dirty="0">
                <a:solidFill>
                  <a:srgbClr val="1F4E79"/>
                </a:solidFill>
                <a:latin typeface="Calibri" pitchFamily="34" charset="0"/>
                <a:ea typeface="Calibri" pitchFamily="34" charset="-122"/>
                <a:cs typeface="Calibri" pitchFamily="34" charset="-120"/>
              </a:rPr>
              <a:t>Clinical Data</a:t>
            </a:r>
            <a:endParaRPr lang="en-US" sz="1200" dirty="0"/>
          </a:p>
        </p:txBody>
      </p:sp>
      <p:sp>
        <p:nvSpPr>
          <p:cNvPr id="6" name="Shape 4"/>
          <p:cNvSpPr/>
          <p:nvPr/>
        </p:nvSpPr>
        <p:spPr>
          <a:xfrm>
            <a:off x="2194560" y="1325880"/>
            <a:ext cx="457200" cy="0"/>
          </a:xfrm>
          <a:prstGeom prst="line">
            <a:avLst/>
          </a:prstGeom>
          <a:noFill/>
          <a:ln w="25400">
            <a:solidFill>
              <a:srgbClr val="4472C4"/>
            </a:solidFill>
            <a:prstDash val="solid"/>
            <a:tailEnd type="triangle"/>
          </a:ln>
        </p:spPr>
      </p:sp>
      <p:sp>
        <p:nvSpPr>
          <p:cNvPr id="7" name="Shape 5"/>
          <p:cNvSpPr/>
          <p:nvPr/>
        </p:nvSpPr>
        <p:spPr>
          <a:xfrm>
            <a:off x="2651760" y="960120"/>
            <a:ext cx="1737360" cy="731520"/>
          </a:xfrm>
          <a:prstGeom prst="roundRect">
            <a:avLst>
              <a:gd name="adj" fmla="val 10000"/>
            </a:avLst>
          </a:prstGeom>
          <a:solidFill>
            <a:srgbClr val="EAF0FA"/>
          </a:solidFill>
          <a:ln w="12700">
            <a:solidFill>
              <a:srgbClr val="4472C4"/>
            </a:solidFill>
            <a:prstDash val="solid"/>
          </a:ln>
        </p:spPr>
      </p:sp>
      <p:sp>
        <p:nvSpPr>
          <p:cNvPr id="8" name="Text 6"/>
          <p:cNvSpPr txBox="1"/>
          <p:nvPr/>
        </p:nvSpPr>
        <p:spPr>
          <a:xfrm>
            <a:off x="2651760" y="960120"/>
            <a:ext cx="1737360" cy="731520"/>
          </a:xfrm>
          <a:prstGeom prst="rect">
            <a:avLst/>
          </a:prstGeom>
          <a:noFill/>
          <a:ln/>
        </p:spPr>
        <p:txBody>
          <a:bodyPr wrap="square" lIns="0" tIns="0" rIns="0" bIns="0"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1F4E79"/>
                </a:solidFill>
                <a:latin typeface="Calibri" pitchFamily="34" charset="0"/>
                <a:ea typeface="Calibri" pitchFamily="34" charset="-122"/>
                <a:cs typeface="Calibri" pitchFamily="34" charset="-120"/>
              </a:rPr>
              <a:t>Preprocessing</a:t>
            </a:r>
            <a:endParaRPr lang="en-US" sz="1200" dirty="0"/>
          </a:p>
        </p:txBody>
      </p:sp>
      <p:sp>
        <p:nvSpPr>
          <p:cNvPr id="9" name="Shape 7"/>
          <p:cNvSpPr/>
          <p:nvPr/>
        </p:nvSpPr>
        <p:spPr>
          <a:xfrm>
            <a:off x="4389120" y="1325880"/>
            <a:ext cx="457200" cy="0"/>
          </a:xfrm>
          <a:prstGeom prst="line">
            <a:avLst/>
          </a:prstGeom>
          <a:noFill/>
          <a:ln w="25400">
            <a:solidFill>
              <a:srgbClr val="4472C4"/>
            </a:solidFill>
            <a:prstDash val="solid"/>
            <a:tailEnd type="triangle"/>
          </a:ln>
        </p:spPr>
      </p:sp>
      <p:sp>
        <p:nvSpPr>
          <p:cNvPr id="10" name="Shape 8"/>
          <p:cNvSpPr/>
          <p:nvPr/>
        </p:nvSpPr>
        <p:spPr>
          <a:xfrm>
            <a:off x="4846320" y="960120"/>
            <a:ext cx="1737360" cy="731520"/>
          </a:xfrm>
          <a:prstGeom prst="roundRect">
            <a:avLst>
              <a:gd name="adj" fmla="val 10000"/>
            </a:avLst>
          </a:prstGeom>
          <a:solidFill>
            <a:srgbClr val="EAF0FA"/>
          </a:solidFill>
          <a:ln w="12700">
            <a:solidFill>
              <a:srgbClr val="4472C4"/>
            </a:solidFill>
            <a:prstDash val="solid"/>
          </a:ln>
        </p:spPr>
      </p:sp>
      <p:sp>
        <p:nvSpPr>
          <p:cNvPr id="11" name="Text 9"/>
          <p:cNvSpPr txBox="1"/>
          <p:nvPr/>
        </p:nvSpPr>
        <p:spPr>
          <a:xfrm>
            <a:off x="4846320" y="960120"/>
            <a:ext cx="1737360" cy="731520"/>
          </a:xfrm>
          <a:prstGeom prst="rect">
            <a:avLst/>
          </a:prstGeom>
          <a:noFill/>
          <a:ln/>
        </p:spPr>
        <p:txBody>
          <a:bodyPr wrap="square" lIns="0" tIns="0" rIns="0" bIns="0"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Feature</a:t>
            </a:r>
            <a:endParaRPr lang="en-US" sz="1200" dirty="0"/>
          </a:p>
          <a:p>
            <a:pPr algn="ctr" indent="0" marL="0">
              <a:buNone/>
            </a:pPr>
            <a:r>
              <a:rPr lang="en-US" sz="1200" b="1" dirty="0">
                <a:solidFill>
                  <a:srgbClr val="1F4E79"/>
                </a:solidFill>
                <a:latin typeface="Calibri" pitchFamily="34" charset="0"/>
                <a:ea typeface="Calibri" pitchFamily="34" charset="-122"/>
                <a:cs typeface="Calibri" pitchFamily="34" charset="-120"/>
              </a:rPr>
              <a:t>Selection</a:t>
            </a:r>
            <a:endParaRPr lang="en-US" sz="1200" dirty="0"/>
          </a:p>
        </p:txBody>
      </p:sp>
      <p:sp>
        <p:nvSpPr>
          <p:cNvPr id="12" name="Shape 10"/>
          <p:cNvSpPr/>
          <p:nvPr/>
        </p:nvSpPr>
        <p:spPr>
          <a:xfrm>
            <a:off x="6583680" y="1325880"/>
            <a:ext cx="457200" cy="0"/>
          </a:xfrm>
          <a:prstGeom prst="line">
            <a:avLst/>
          </a:prstGeom>
          <a:noFill/>
          <a:ln w="25400">
            <a:solidFill>
              <a:srgbClr val="4472C4"/>
            </a:solidFill>
            <a:prstDash val="solid"/>
            <a:tailEnd type="triangle"/>
          </a:ln>
        </p:spPr>
      </p:sp>
      <p:sp>
        <p:nvSpPr>
          <p:cNvPr id="13" name="Shape 11"/>
          <p:cNvSpPr/>
          <p:nvPr/>
        </p:nvSpPr>
        <p:spPr>
          <a:xfrm>
            <a:off x="7040880" y="960120"/>
            <a:ext cx="1737360" cy="731520"/>
          </a:xfrm>
          <a:prstGeom prst="roundRect">
            <a:avLst>
              <a:gd name="adj" fmla="val 10000"/>
            </a:avLst>
          </a:prstGeom>
          <a:solidFill>
            <a:srgbClr val="EAF0FA"/>
          </a:solidFill>
          <a:ln w="12700">
            <a:solidFill>
              <a:srgbClr val="4472C4"/>
            </a:solidFill>
            <a:prstDash val="solid"/>
          </a:ln>
        </p:spPr>
      </p:sp>
      <p:sp>
        <p:nvSpPr>
          <p:cNvPr id="14" name="Text 12"/>
          <p:cNvSpPr txBox="1"/>
          <p:nvPr/>
        </p:nvSpPr>
        <p:spPr>
          <a:xfrm>
            <a:off x="7040880" y="960120"/>
            <a:ext cx="1737360" cy="731520"/>
          </a:xfrm>
          <a:prstGeom prst="rect">
            <a:avLst/>
          </a:prstGeom>
          <a:noFill/>
          <a:ln/>
        </p:spPr>
        <p:txBody>
          <a:bodyPr wrap="square" lIns="0" tIns="0" rIns="0" bIns="0"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Train/Test</a:t>
            </a:r>
            <a:endParaRPr lang="en-US" sz="1200" dirty="0"/>
          </a:p>
          <a:p>
            <a:pPr algn="ctr" indent="0" marL="0">
              <a:buNone/>
            </a:pPr>
            <a:r>
              <a:rPr lang="en-US" sz="1200" b="1" dirty="0">
                <a:solidFill>
                  <a:srgbClr val="1F4E79"/>
                </a:solidFill>
                <a:latin typeface="Calibri" pitchFamily="34" charset="0"/>
                <a:ea typeface="Calibri" pitchFamily="34" charset="-122"/>
                <a:cs typeface="Calibri" pitchFamily="34" charset="-120"/>
              </a:rPr>
              <a:t>Split</a:t>
            </a:r>
            <a:endParaRPr lang="en-US" sz="1200" dirty="0"/>
          </a:p>
        </p:txBody>
      </p:sp>
      <p:sp>
        <p:nvSpPr>
          <p:cNvPr id="15" name="Shape 13"/>
          <p:cNvSpPr/>
          <p:nvPr/>
        </p:nvSpPr>
        <p:spPr>
          <a:xfrm>
            <a:off x="4572000" y="1691640"/>
            <a:ext cx="0" cy="320040"/>
          </a:xfrm>
          <a:prstGeom prst="line">
            <a:avLst/>
          </a:prstGeom>
          <a:noFill/>
          <a:ln w="25400">
            <a:solidFill>
              <a:srgbClr val="4472C4"/>
            </a:solidFill>
            <a:prstDash val="solid"/>
            <a:tailEnd type="triangle"/>
          </a:ln>
        </p:spPr>
      </p:sp>
      <p:sp>
        <p:nvSpPr>
          <p:cNvPr id="16" name="Shape 14"/>
          <p:cNvSpPr/>
          <p:nvPr/>
        </p:nvSpPr>
        <p:spPr>
          <a:xfrm>
            <a:off x="457200" y="2011680"/>
            <a:ext cx="8229600" cy="1143000"/>
          </a:xfrm>
          <a:prstGeom prst="rect">
            <a:avLst/>
          </a:prstGeom>
          <a:solidFill>
            <a:srgbClr val="FFFFFF"/>
          </a:solidFill>
          <a:ln w="19050">
            <a:solidFill>
              <a:srgbClr val="4472C4"/>
            </a:solidFill>
            <a:prstDash val="solid"/>
          </a:ln>
        </p:spPr>
      </p:sp>
      <p:sp>
        <p:nvSpPr>
          <p:cNvPr id="17" name="Text 15"/>
          <p:cNvSpPr txBox="1"/>
          <p:nvPr/>
        </p:nvSpPr>
        <p:spPr>
          <a:xfrm>
            <a:off x="457200" y="2057400"/>
            <a:ext cx="8229600" cy="274320"/>
          </a:xfrm>
          <a:prstGeom prst="rect">
            <a:avLst/>
          </a:prstGeom>
          <a:noFill/>
          <a:ln/>
        </p:spPr>
        <p:txBody>
          <a:bodyPr wrap="square" lIns="0" tIns="0" rIns="0" bIns="0"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ML Model Training &amp; Evaluation</a:t>
            </a:r>
            <a:endParaRPr lang="en-US" sz="1200" dirty="0"/>
          </a:p>
        </p:txBody>
      </p:sp>
      <p:sp>
        <p:nvSpPr>
          <p:cNvPr id="18" name="Shape 16"/>
          <p:cNvSpPr/>
          <p:nvPr/>
        </p:nvSpPr>
        <p:spPr>
          <a:xfrm>
            <a:off x="640080" y="2395728"/>
            <a:ext cx="1371600" cy="640080"/>
          </a:xfrm>
          <a:prstGeom prst="roundRect">
            <a:avLst>
              <a:gd name="adj" fmla="val 11429"/>
            </a:avLst>
          </a:prstGeom>
          <a:solidFill>
            <a:srgbClr val="4472C4"/>
          </a:solidFill>
          <a:ln w="12700">
            <a:solidFill>
              <a:srgbClr val="4472C4"/>
            </a:solidFill>
            <a:prstDash val="solid"/>
          </a:ln>
        </p:spPr>
      </p:sp>
      <p:sp>
        <p:nvSpPr>
          <p:cNvPr id="19" name="Text 17"/>
          <p:cNvSpPr txBox="1"/>
          <p:nvPr/>
        </p:nvSpPr>
        <p:spPr>
          <a:xfrm>
            <a:off x="640080" y="2395728"/>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Logistic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Regression</a:t>
            </a:r>
            <a:endParaRPr lang="en-US" sz="1100" dirty="0"/>
          </a:p>
        </p:txBody>
      </p:sp>
      <p:sp>
        <p:nvSpPr>
          <p:cNvPr id="20" name="Shape 18"/>
          <p:cNvSpPr/>
          <p:nvPr/>
        </p:nvSpPr>
        <p:spPr>
          <a:xfrm>
            <a:off x="2194560" y="2395728"/>
            <a:ext cx="1371600" cy="640080"/>
          </a:xfrm>
          <a:prstGeom prst="roundRect">
            <a:avLst>
              <a:gd name="adj" fmla="val 11429"/>
            </a:avLst>
          </a:prstGeom>
          <a:solidFill>
            <a:srgbClr val="4472C4"/>
          </a:solidFill>
          <a:ln w="12700">
            <a:solidFill>
              <a:srgbClr val="4472C4"/>
            </a:solidFill>
            <a:prstDash val="solid"/>
          </a:ln>
        </p:spPr>
      </p:sp>
      <p:sp>
        <p:nvSpPr>
          <p:cNvPr id="21" name="Text 19"/>
          <p:cNvSpPr txBox="1"/>
          <p:nvPr/>
        </p:nvSpPr>
        <p:spPr>
          <a:xfrm>
            <a:off x="2194560" y="2395728"/>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KNN</a:t>
            </a:r>
            <a:endParaRPr lang="en-US" sz="1100" dirty="0"/>
          </a:p>
        </p:txBody>
      </p:sp>
      <p:sp>
        <p:nvSpPr>
          <p:cNvPr id="22" name="Shape 20"/>
          <p:cNvSpPr/>
          <p:nvPr/>
        </p:nvSpPr>
        <p:spPr>
          <a:xfrm>
            <a:off x="3749040" y="2395728"/>
            <a:ext cx="1371600" cy="640080"/>
          </a:xfrm>
          <a:prstGeom prst="roundRect">
            <a:avLst>
              <a:gd name="adj" fmla="val 11429"/>
            </a:avLst>
          </a:prstGeom>
          <a:solidFill>
            <a:srgbClr val="4472C4"/>
          </a:solidFill>
          <a:ln w="12700">
            <a:solidFill>
              <a:srgbClr val="4472C4"/>
            </a:solidFill>
            <a:prstDash val="solid"/>
          </a:ln>
        </p:spPr>
      </p:sp>
      <p:sp>
        <p:nvSpPr>
          <p:cNvPr id="23" name="Text 21"/>
          <p:cNvSpPr txBox="1"/>
          <p:nvPr/>
        </p:nvSpPr>
        <p:spPr>
          <a:xfrm>
            <a:off x="3749040" y="2395728"/>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Tree</a:t>
            </a:r>
            <a:endParaRPr lang="en-US" sz="1100" dirty="0"/>
          </a:p>
        </p:txBody>
      </p:sp>
      <p:sp>
        <p:nvSpPr>
          <p:cNvPr id="24" name="Shape 22"/>
          <p:cNvSpPr/>
          <p:nvPr/>
        </p:nvSpPr>
        <p:spPr>
          <a:xfrm>
            <a:off x="5303520" y="2395728"/>
            <a:ext cx="1371600" cy="640080"/>
          </a:xfrm>
          <a:prstGeom prst="roundRect">
            <a:avLst>
              <a:gd name="adj" fmla="val 11429"/>
            </a:avLst>
          </a:prstGeom>
          <a:solidFill>
            <a:srgbClr val="4472C4"/>
          </a:solidFill>
          <a:ln w="12700">
            <a:solidFill>
              <a:srgbClr val="4472C4"/>
            </a:solidFill>
            <a:prstDash val="solid"/>
          </a:ln>
        </p:spPr>
      </p:sp>
      <p:sp>
        <p:nvSpPr>
          <p:cNvPr id="25" name="Text 23"/>
          <p:cNvSpPr txBox="1"/>
          <p:nvPr/>
        </p:nvSpPr>
        <p:spPr>
          <a:xfrm>
            <a:off x="5303520" y="2395728"/>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Random</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Forest</a:t>
            </a:r>
            <a:endParaRPr lang="en-US" sz="1100" dirty="0"/>
          </a:p>
        </p:txBody>
      </p:sp>
      <p:sp>
        <p:nvSpPr>
          <p:cNvPr id="26" name="Shape 24"/>
          <p:cNvSpPr/>
          <p:nvPr/>
        </p:nvSpPr>
        <p:spPr>
          <a:xfrm>
            <a:off x="6858000" y="2395728"/>
            <a:ext cx="1371600" cy="640080"/>
          </a:xfrm>
          <a:prstGeom prst="roundRect">
            <a:avLst>
              <a:gd name="adj" fmla="val 11429"/>
            </a:avLst>
          </a:prstGeom>
          <a:solidFill>
            <a:srgbClr val="4472C4"/>
          </a:solidFill>
          <a:ln w="12700">
            <a:solidFill>
              <a:srgbClr val="4472C4"/>
            </a:solidFill>
            <a:prstDash val="solid"/>
          </a:ln>
        </p:spPr>
      </p:sp>
      <p:sp>
        <p:nvSpPr>
          <p:cNvPr id="27" name="Text 25"/>
          <p:cNvSpPr txBox="1"/>
          <p:nvPr/>
        </p:nvSpPr>
        <p:spPr>
          <a:xfrm>
            <a:off x="6858000" y="2395728"/>
            <a:ext cx="13716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SVM</a:t>
            </a:r>
            <a:endParaRPr lang="en-US" sz="1100" dirty="0"/>
          </a:p>
        </p:txBody>
      </p:sp>
      <p:sp>
        <p:nvSpPr>
          <p:cNvPr id="28" name="Shape 26"/>
          <p:cNvSpPr/>
          <p:nvPr/>
        </p:nvSpPr>
        <p:spPr>
          <a:xfrm>
            <a:off x="4572000" y="3154680"/>
            <a:ext cx="0" cy="274320"/>
          </a:xfrm>
          <a:prstGeom prst="line">
            <a:avLst/>
          </a:prstGeom>
          <a:noFill/>
          <a:ln w="25400">
            <a:solidFill>
              <a:srgbClr val="4472C4"/>
            </a:solidFill>
            <a:prstDash val="solid"/>
            <a:tailEnd type="triangle"/>
          </a:ln>
        </p:spPr>
      </p:sp>
      <p:sp>
        <p:nvSpPr>
          <p:cNvPr id="29" name="Shape 27"/>
          <p:cNvSpPr/>
          <p:nvPr/>
        </p:nvSpPr>
        <p:spPr>
          <a:xfrm>
            <a:off x="1371600" y="3429000"/>
            <a:ext cx="6400800" cy="502920"/>
          </a:xfrm>
          <a:prstGeom prst="roundRect">
            <a:avLst>
              <a:gd name="adj" fmla="val 14545"/>
            </a:avLst>
          </a:prstGeom>
          <a:solidFill>
            <a:srgbClr val="EAF0FA"/>
          </a:solidFill>
          <a:ln w="12700">
            <a:solidFill>
              <a:srgbClr val="4472C4"/>
            </a:solidFill>
            <a:prstDash val="solid"/>
          </a:ln>
        </p:spPr>
      </p:sp>
      <p:sp>
        <p:nvSpPr>
          <p:cNvPr id="30" name="Text 28"/>
          <p:cNvSpPr txBox="1"/>
          <p:nvPr/>
        </p:nvSpPr>
        <p:spPr>
          <a:xfrm>
            <a:off x="1371600" y="3429000"/>
            <a:ext cx="6400800" cy="502920"/>
          </a:xfrm>
          <a:prstGeom prst="rect">
            <a:avLst/>
          </a:prstGeom>
          <a:noFill/>
          <a:ln/>
        </p:spPr>
        <p:txBody>
          <a:bodyPr wrap="square" lIns="0" tIns="0" rIns="0" bIns="0"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Multi-Metric Evaluation:  Accuracy | Precision | Recall | F1-Score</a:t>
            </a:r>
            <a:endParaRPr lang="en-US" sz="1200" dirty="0"/>
          </a:p>
        </p:txBody>
      </p:sp>
      <p:sp>
        <p:nvSpPr>
          <p:cNvPr id="31" name="Shape 29"/>
          <p:cNvSpPr/>
          <p:nvPr/>
        </p:nvSpPr>
        <p:spPr>
          <a:xfrm>
            <a:off x="4572000" y="3931920"/>
            <a:ext cx="0" cy="274320"/>
          </a:xfrm>
          <a:prstGeom prst="line">
            <a:avLst/>
          </a:prstGeom>
          <a:noFill/>
          <a:ln w="25400">
            <a:solidFill>
              <a:srgbClr val="4472C4"/>
            </a:solidFill>
            <a:prstDash val="solid"/>
            <a:tailEnd type="triangle"/>
          </a:ln>
        </p:spPr>
      </p:sp>
      <p:sp>
        <p:nvSpPr>
          <p:cNvPr id="32" name="Shape 30"/>
          <p:cNvSpPr/>
          <p:nvPr/>
        </p:nvSpPr>
        <p:spPr>
          <a:xfrm>
            <a:off x="2286000" y="4206240"/>
            <a:ext cx="4572000" cy="548640"/>
          </a:xfrm>
          <a:prstGeom prst="roundRect">
            <a:avLst>
              <a:gd name="adj" fmla="val 13333"/>
            </a:avLst>
          </a:prstGeom>
          <a:solidFill>
            <a:srgbClr val="1F4E79"/>
          </a:solidFill>
          <a:ln w="12700">
            <a:solidFill>
              <a:srgbClr val="4472C4"/>
            </a:solidFill>
            <a:prstDash val="solid"/>
          </a:ln>
        </p:spPr>
      </p:sp>
      <p:sp>
        <p:nvSpPr>
          <p:cNvPr id="33" name="Text 31"/>
          <p:cNvSpPr txBox="1"/>
          <p:nvPr/>
        </p:nvSpPr>
        <p:spPr>
          <a:xfrm>
            <a:off x="2286000" y="4206240"/>
            <a:ext cx="45720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Heart Disease Risk Prediction + Confidence Score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7: TOOLS AND TECHNOLOGIES</a:t>
            </a:r>
            <a:endParaRPr lang="en-US" sz="2400" dirty="0"/>
          </a:p>
        </p:txBody>
      </p:sp>
      <p:sp>
        <p:nvSpPr>
          <p:cNvPr id="4" name="Shape 2"/>
          <p:cNvSpPr/>
          <p:nvPr/>
        </p:nvSpPr>
        <p:spPr>
          <a:xfrm>
            <a:off x="457200" y="914400"/>
            <a:ext cx="2651760" cy="402336"/>
          </a:xfrm>
          <a:prstGeom prst="rect">
            <a:avLst/>
          </a:prstGeom>
          <a:solidFill>
            <a:srgbClr val="4472C4"/>
          </a:solidFill>
          <a:ln w="12700">
            <a:solidFill>
              <a:srgbClr val="4472C4"/>
            </a:solidFill>
            <a:prstDash val="solid"/>
          </a:ln>
        </p:spPr>
      </p:sp>
      <p:sp>
        <p:nvSpPr>
          <p:cNvPr id="5" name="Text 3"/>
          <p:cNvSpPr txBox="1"/>
          <p:nvPr/>
        </p:nvSpPr>
        <p:spPr>
          <a:xfrm>
            <a:off x="594360" y="914400"/>
            <a:ext cx="2468880" cy="40233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Programming Language</a:t>
            </a:r>
            <a:endParaRPr lang="en-US" sz="1250" dirty="0"/>
          </a:p>
        </p:txBody>
      </p:sp>
      <p:sp>
        <p:nvSpPr>
          <p:cNvPr id="6" name="Shape 4"/>
          <p:cNvSpPr/>
          <p:nvPr/>
        </p:nvSpPr>
        <p:spPr>
          <a:xfrm>
            <a:off x="3200400" y="914400"/>
            <a:ext cx="5486400" cy="402336"/>
          </a:xfrm>
          <a:prstGeom prst="rect">
            <a:avLst/>
          </a:prstGeom>
          <a:solidFill>
            <a:srgbClr val="EAF0FA"/>
          </a:solidFill>
          <a:ln w="12700">
            <a:solidFill>
              <a:srgbClr val="EAF0FA"/>
            </a:solidFill>
            <a:prstDash val="solid"/>
          </a:ln>
        </p:spPr>
      </p:sp>
      <p:sp>
        <p:nvSpPr>
          <p:cNvPr id="7" name="Text 5"/>
          <p:cNvSpPr txBox="1"/>
          <p:nvPr/>
        </p:nvSpPr>
        <p:spPr>
          <a:xfrm>
            <a:off x="3337560" y="914400"/>
            <a:ext cx="5303520" cy="402336"/>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Python 3.8+</a:t>
            </a:r>
            <a:endParaRPr lang="en-US" sz="1250" dirty="0"/>
          </a:p>
        </p:txBody>
      </p:sp>
      <p:sp>
        <p:nvSpPr>
          <p:cNvPr id="8" name="Shape 6"/>
          <p:cNvSpPr/>
          <p:nvPr/>
        </p:nvSpPr>
        <p:spPr>
          <a:xfrm>
            <a:off x="457200" y="1389888"/>
            <a:ext cx="2651760" cy="402336"/>
          </a:xfrm>
          <a:prstGeom prst="rect">
            <a:avLst/>
          </a:prstGeom>
          <a:solidFill>
            <a:srgbClr val="4472C4"/>
          </a:solidFill>
          <a:ln w="12700">
            <a:solidFill>
              <a:srgbClr val="4472C4"/>
            </a:solidFill>
            <a:prstDash val="solid"/>
          </a:ln>
        </p:spPr>
      </p:sp>
      <p:sp>
        <p:nvSpPr>
          <p:cNvPr id="9" name="Text 7"/>
          <p:cNvSpPr txBox="1"/>
          <p:nvPr/>
        </p:nvSpPr>
        <p:spPr>
          <a:xfrm>
            <a:off x="594360" y="1389888"/>
            <a:ext cx="2468880" cy="40233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Processing</a:t>
            </a:r>
            <a:endParaRPr lang="en-US" sz="1250" dirty="0"/>
          </a:p>
        </p:txBody>
      </p:sp>
      <p:sp>
        <p:nvSpPr>
          <p:cNvPr id="10" name="Shape 8"/>
          <p:cNvSpPr/>
          <p:nvPr/>
        </p:nvSpPr>
        <p:spPr>
          <a:xfrm>
            <a:off x="3200400" y="1389888"/>
            <a:ext cx="5486400" cy="402336"/>
          </a:xfrm>
          <a:prstGeom prst="rect">
            <a:avLst/>
          </a:prstGeom>
          <a:solidFill>
            <a:srgbClr val="EAF0FA"/>
          </a:solidFill>
          <a:ln w="12700">
            <a:solidFill>
              <a:srgbClr val="EAF0FA"/>
            </a:solidFill>
            <a:prstDash val="solid"/>
          </a:ln>
        </p:spPr>
      </p:sp>
      <p:sp>
        <p:nvSpPr>
          <p:cNvPr id="11" name="Text 9"/>
          <p:cNvSpPr txBox="1"/>
          <p:nvPr/>
        </p:nvSpPr>
        <p:spPr>
          <a:xfrm>
            <a:off x="3337560" y="1389888"/>
            <a:ext cx="5303520" cy="402336"/>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Pandas, NumPy, Scikit-learn</a:t>
            </a:r>
            <a:endParaRPr lang="en-US" sz="1250" dirty="0"/>
          </a:p>
        </p:txBody>
      </p:sp>
      <p:sp>
        <p:nvSpPr>
          <p:cNvPr id="12" name="Shape 10"/>
          <p:cNvSpPr/>
          <p:nvPr/>
        </p:nvSpPr>
        <p:spPr>
          <a:xfrm>
            <a:off x="457200" y="1865376"/>
            <a:ext cx="2651760" cy="402336"/>
          </a:xfrm>
          <a:prstGeom prst="rect">
            <a:avLst/>
          </a:prstGeom>
          <a:solidFill>
            <a:srgbClr val="4472C4"/>
          </a:solidFill>
          <a:ln w="12700">
            <a:solidFill>
              <a:srgbClr val="4472C4"/>
            </a:solidFill>
            <a:prstDash val="solid"/>
          </a:ln>
        </p:spPr>
      </p:sp>
      <p:sp>
        <p:nvSpPr>
          <p:cNvPr id="13" name="Text 11"/>
          <p:cNvSpPr txBox="1"/>
          <p:nvPr/>
        </p:nvSpPr>
        <p:spPr>
          <a:xfrm>
            <a:off x="594360" y="1865376"/>
            <a:ext cx="2468880" cy="40233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Visualization</a:t>
            </a:r>
            <a:endParaRPr lang="en-US" sz="1250" dirty="0"/>
          </a:p>
        </p:txBody>
      </p:sp>
      <p:sp>
        <p:nvSpPr>
          <p:cNvPr id="14" name="Shape 12"/>
          <p:cNvSpPr/>
          <p:nvPr/>
        </p:nvSpPr>
        <p:spPr>
          <a:xfrm>
            <a:off x="3200400" y="1865376"/>
            <a:ext cx="5486400" cy="402336"/>
          </a:xfrm>
          <a:prstGeom prst="rect">
            <a:avLst/>
          </a:prstGeom>
          <a:solidFill>
            <a:srgbClr val="EAF0FA"/>
          </a:solidFill>
          <a:ln w="12700">
            <a:solidFill>
              <a:srgbClr val="EAF0FA"/>
            </a:solidFill>
            <a:prstDash val="solid"/>
          </a:ln>
        </p:spPr>
      </p:sp>
      <p:sp>
        <p:nvSpPr>
          <p:cNvPr id="15" name="Text 13"/>
          <p:cNvSpPr txBox="1"/>
          <p:nvPr/>
        </p:nvSpPr>
        <p:spPr>
          <a:xfrm>
            <a:off x="3337560" y="1865376"/>
            <a:ext cx="5303520" cy="402336"/>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Matplotlib, Seaborn</a:t>
            </a:r>
            <a:endParaRPr lang="en-US" sz="1250" dirty="0"/>
          </a:p>
        </p:txBody>
      </p:sp>
      <p:sp>
        <p:nvSpPr>
          <p:cNvPr id="16" name="Shape 14"/>
          <p:cNvSpPr/>
          <p:nvPr/>
        </p:nvSpPr>
        <p:spPr>
          <a:xfrm>
            <a:off x="457200" y="2340864"/>
            <a:ext cx="2651760" cy="402336"/>
          </a:xfrm>
          <a:prstGeom prst="rect">
            <a:avLst/>
          </a:prstGeom>
          <a:solidFill>
            <a:srgbClr val="4472C4"/>
          </a:solidFill>
          <a:ln w="12700">
            <a:solidFill>
              <a:srgbClr val="4472C4"/>
            </a:solidFill>
            <a:prstDash val="solid"/>
          </a:ln>
        </p:spPr>
      </p:sp>
      <p:sp>
        <p:nvSpPr>
          <p:cNvPr id="17" name="Text 15"/>
          <p:cNvSpPr txBox="1"/>
          <p:nvPr/>
        </p:nvSpPr>
        <p:spPr>
          <a:xfrm>
            <a:off x="594360" y="2340864"/>
            <a:ext cx="2468880" cy="40233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ML Algorithms</a:t>
            </a:r>
            <a:endParaRPr lang="en-US" sz="1250" dirty="0"/>
          </a:p>
        </p:txBody>
      </p:sp>
      <p:sp>
        <p:nvSpPr>
          <p:cNvPr id="18" name="Shape 16"/>
          <p:cNvSpPr/>
          <p:nvPr/>
        </p:nvSpPr>
        <p:spPr>
          <a:xfrm>
            <a:off x="3200400" y="2340864"/>
            <a:ext cx="5486400" cy="402336"/>
          </a:xfrm>
          <a:prstGeom prst="rect">
            <a:avLst/>
          </a:prstGeom>
          <a:solidFill>
            <a:srgbClr val="EAF0FA"/>
          </a:solidFill>
          <a:ln w="12700">
            <a:solidFill>
              <a:srgbClr val="EAF0FA"/>
            </a:solidFill>
            <a:prstDash val="solid"/>
          </a:ln>
        </p:spPr>
      </p:sp>
      <p:sp>
        <p:nvSpPr>
          <p:cNvPr id="19" name="Text 17"/>
          <p:cNvSpPr txBox="1"/>
          <p:nvPr/>
        </p:nvSpPr>
        <p:spPr>
          <a:xfrm>
            <a:off x="3337560" y="2340864"/>
            <a:ext cx="5303520" cy="402336"/>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Logistic Regression, KNN, Decision Tree, Random Forest, SVM</a:t>
            </a:r>
            <a:endParaRPr lang="en-US" sz="1250" dirty="0"/>
          </a:p>
        </p:txBody>
      </p:sp>
      <p:sp>
        <p:nvSpPr>
          <p:cNvPr id="20" name="Shape 18"/>
          <p:cNvSpPr/>
          <p:nvPr/>
        </p:nvSpPr>
        <p:spPr>
          <a:xfrm>
            <a:off x="457200" y="2816352"/>
            <a:ext cx="2651760" cy="402336"/>
          </a:xfrm>
          <a:prstGeom prst="rect">
            <a:avLst/>
          </a:prstGeom>
          <a:solidFill>
            <a:srgbClr val="4472C4"/>
          </a:solidFill>
          <a:ln w="12700">
            <a:solidFill>
              <a:srgbClr val="4472C4"/>
            </a:solidFill>
            <a:prstDash val="solid"/>
          </a:ln>
        </p:spPr>
      </p:sp>
      <p:sp>
        <p:nvSpPr>
          <p:cNvPr id="21" name="Text 19"/>
          <p:cNvSpPr txBox="1"/>
          <p:nvPr/>
        </p:nvSpPr>
        <p:spPr>
          <a:xfrm>
            <a:off x="594360" y="2816352"/>
            <a:ext cx="2468880" cy="40233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Scaling</a:t>
            </a:r>
            <a:endParaRPr lang="en-US" sz="1250" dirty="0"/>
          </a:p>
        </p:txBody>
      </p:sp>
      <p:sp>
        <p:nvSpPr>
          <p:cNvPr id="22" name="Shape 20"/>
          <p:cNvSpPr/>
          <p:nvPr/>
        </p:nvSpPr>
        <p:spPr>
          <a:xfrm>
            <a:off x="3200400" y="2816352"/>
            <a:ext cx="5486400" cy="402336"/>
          </a:xfrm>
          <a:prstGeom prst="rect">
            <a:avLst/>
          </a:prstGeom>
          <a:solidFill>
            <a:srgbClr val="EAF0FA"/>
          </a:solidFill>
          <a:ln w="12700">
            <a:solidFill>
              <a:srgbClr val="EAF0FA"/>
            </a:solidFill>
            <a:prstDash val="solid"/>
          </a:ln>
        </p:spPr>
      </p:sp>
      <p:sp>
        <p:nvSpPr>
          <p:cNvPr id="23" name="Text 21"/>
          <p:cNvSpPr txBox="1"/>
          <p:nvPr/>
        </p:nvSpPr>
        <p:spPr>
          <a:xfrm>
            <a:off x="3337560" y="2816352"/>
            <a:ext cx="5303520" cy="402336"/>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StandardScaler from Scikit-learn</a:t>
            </a:r>
            <a:endParaRPr lang="en-US" sz="1250" dirty="0"/>
          </a:p>
        </p:txBody>
      </p:sp>
      <p:sp>
        <p:nvSpPr>
          <p:cNvPr id="24" name="Shape 22"/>
          <p:cNvSpPr/>
          <p:nvPr/>
        </p:nvSpPr>
        <p:spPr>
          <a:xfrm>
            <a:off x="457200" y="3291840"/>
            <a:ext cx="2651760" cy="402336"/>
          </a:xfrm>
          <a:prstGeom prst="rect">
            <a:avLst/>
          </a:prstGeom>
          <a:solidFill>
            <a:srgbClr val="4472C4"/>
          </a:solidFill>
          <a:ln w="12700">
            <a:solidFill>
              <a:srgbClr val="4472C4"/>
            </a:solidFill>
            <a:prstDash val="solid"/>
          </a:ln>
        </p:spPr>
      </p:sp>
      <p:sp>
        <p:nvSpPr>
          <p:cNvPr id="25" name="Text 23"/>
          <p:cNvSpPr txBox="1"/>
          <p:nvPr/>
        </p:nvSpPr>
        <p:spPr>
          <a:xfrm>
            <a:off x="594360" y="3291840"/>
            <a:ext cx="2468880" cy="40233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Model Evaluation</a:t>
            </a:r>
            <a:endParaRPr lang="en-US" sz="1250" dirty="0"/>
          </a:p>
        </p:txBody>
      </p:sp>
      <p:sp>
        <p:nvSpPr>
          <p:cNvPr id="26" name="Shape 24"/>
          <p:cNvSpPr/>
          <p:nvPr/>
        </p:nvSpPr>
        <p:spPr>
          <a:xfrm>
            <a:off x="3200400" y="3291840"/>
            <a:ext cx="5486400" cy="402336"/>
          </a:xfrm>
          <a:prstGeom prst="rect">
            <a:avLst/>
          </a:prstGeom>
          <a:solidFill>
            <a:srgbClr val="EAF0FA"/>
          </a:solidFill>
          <a:ln w="12700">
            <a:solidFill>
              <a:srgbClr val="EAF0FA"/>
            </a:solidFill>
            <a:prstDash val="solid"/>
          </a:ln>
        </p:spPr>
      </p:sp>
      <p:sp>
        <p:nvSpPr>
          <p:cNvPr id="27" name="Text 25"/>
          <p:cNvSpPr txBox="1"/>
          <p:nvPr/>
        </p:nvSpPr>
        <p:spPr>
          <a:xfrm>
            <a:off x="3337560" y="3291840"/>
            <a:ext cx="5303520" cy="402336"/>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Confusion Matrix, ROC-AUC, Cross-validation</a:t>
            </a:r>
            <a:endParaRPr lang="en-US" sz="1250" dirty="0"/>
          </a:p>
        </p:txBody>
      </p:sp>
      <p:sp>
        <p:nvSpPr>
          <p:cNvPr id="28" name="Shape 26"/>
          <p:cNvSpPr/>
          <p:nvPr/>
        </p:nvSpPr>
        <p:spPr>
          <a:xfrm>
            <a:off x="457200" y="3767328"/>
            <a:ext cx="2651760" cy="402336"/>
          </a:xfrm>
          <a:prstGeom prst="rect">
            <a:avLst/>
          </a:prstGeom>
          <a:solidFill>
            <a:srgbClr val="4472C4"/>
          </a:solidFill>
          <a:ln w="12700">
            <a:solidFill>
              <a:srgbClr val="4472C4"/>
            </a:solidFill>
            <a:prstDash val="solid"/>
          </a:ln>
        </p:spPr>
      </p:sp>
      <p:sp>
        <p:nvSpPr>
          <p:cNvPr id="29" name="Text 27"/>
          <p:cNvSpPr txBox="1"/>
          <p:nvPr/>
        </p:nvSpPr>
        <p:spPr>
          <a:xfrm>
            <a:off x="594360" y="3767328"/>
            <a:ext cx="2468880" cy="40233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Deployment</a:t>
            </a:r>
            <a:endParaRPr lang="en-US" sz="1250" dirty="0"/>
          </a:p>
        </p:txBody>
      </p:sp>
      <p:sp>
        <p:nvSpPr>
          <p:cNvPr id="30" name="Shape 28"/>
          <p:cNvSpPr/>
          <p:nvPr/>
        </p:nvSpPr>
        <p:spPr>
          <a:xfrm>
            <a:off x="3200400" y="3767328"/>
            <a:ext cx="5486400" cy="402336"/>
          </a:xfrm>
          <a:prstGeom prst="rect">
            <a:avLst/>
          </a:prstGeom>
          <a:solidFill>
            <a:srgbClr val="EAF0FA"/>
          </a:solidFill>
          <a:ln w="12700">
            <a:solidFill>
              <a:srgbClr val="EAF0FA"/>
            </a:solidFill>
            <a:prstDash val="solid"/>
          </a:ln>
        </p:spPr>
      </p:sp>
      <p:sp>
        <p:nvSpPr>
          <p:cNvPr id="31" name="Text 29"/>
          <p:cNvSpPr txBox="1"/>
          <p:nvPr/>
        </p:nvSpPr>
        <p:spPr>
          <a:xfrm>
            <a:off x="3337560" y="3767328"/>
            <a:ext cx="5303520" cy="402336"/>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Flask / Streamlit for Web Interface</a:t>
            </a:r>
            <a:endParaRPr lang="en-US" sz="1250" dirty="0"/>
          </a:p>
        </p:txBody>
      </p:sp>
      <p:sp>
        <p:nvSpPr>
          <p:cNvPr id="32" name="Shape 30"/>
          <p:cNvSpPr/>
          <p:nvPr/>
        </p:nvSpPr>
        <p:spPr>
          <a:xfrm>
            <a:off x="457200" y="4242816"/>
            <a:ext cx="2651760" cy="402336"/>
          </a:xfrm>
          <a:prstGeom prst="rect">
            <a:avLst/>
          </a:prstGeom>
          <a:solidFill>
            <a:srgbClr val="4472C4"/>
          </a:solidFill>
          <a:ln w="12700">
            <a:solidFill>
              <a:srgbClr val="4472C4"/>
            </a:solidFill>
            <a:prstDash val="solid"/>
          </a:ln>
        </p:spPr>
      </p:sp>
      <p:sp>
        <p:nvSpPr>
          <p:cNvPr id="33" name="Text 31"/>
          <p:cNvSpPr txBox="1"/>
          <p:nvPr/>
        </p:nvSpPr>
        <p:spPr>
          <a:xfrm>
            <a:off x="594360" y="4242816"/>
            <a:ext cx="2468880" cy="40233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p>
        </p:txBody>
      </p:sp>
      <p:sp>
        <p:nvSpPr>
          <p:cNvPr id="34" name="Shape 32"/>
          <p:cNvSpPr/>
          <p:nvPr/>
        </p:nvSpPr>
        <p:spPr>
          <a:xfrm>
            <a:off x="3200400" y="4242816"/>
            <a:ext cx="5486400" cy="402336"/>
          </a:xfrm>
          <a:prstGeom prst="rect">
            <a:avLst/>
          </a:prstGeom>
          <a:solidFill>
            <a:srgbClr val="EAF0FA"/>
          </a:solidFill>
          <a:ln w="12700">
            <a:solidFill>
              <a:srgbClr val="EAF0FA"/>
            </a:solidFill>
            <a:prstDash val="solid"/>
          </a:ln>
        </p:spPr>
      </p:sp>
      <p:sp>
        <p:nvSpPr>
          <p:cNvPr id="35" name="Text 33"/>
          <p:cNvSpPr txBox="1"/>
          <p:nvPr/>
        </p:nvSpPr>
        <p:spPr>
          <a:xfrm>
            <a:off x="3337560" y="4242816"/>
            <a:ext cx="5303520" cy="402336"/>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UCI Heart Disease Dataset (303 records, 13 features)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8: WORK COMPLETED &amp; DEMO</a:t>
            </a:r>
            <a:endParaRPr lang="en-US" sz="2400" dirty="0"/>
          </a:p>
        </p:txBody>
      </p:sp>
      <p:sp>
        <p:nvSpPr>
          <p:cNvPr id="4" name="Shape 2"/>
          <p:cNvSpPr/>
          <p:nvPr/>
        </p:nvSpPr>
        <p:spPr>
          <a:xfrm>
            <a:off x="457200" y="960120"/>
            <a:ext cx="457200" cy="457200"/>
          </a:xfrm>
          <a:prstGeom prst="ellipse">
            <a:avLst/>
          </a:prstGeom>
          <a:solidFill>
            <a:srgbClr val="2E7D32"/>
          </a:solidFill>
          <a:ln w="12700">
            <a:solidFill>
              <a:srgbClr val="2E7D32"/>
            </a:solidFill>
            <a:prstDash val="solid"/>
          </a:ln>
        </p:spPr>
      </p:sp>
      <p:sp>
        <p:nvSpPr>
          <p:cNvPr id="5" name="Text 3"/>
          <p:cNvSpPr txBox="1"/>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097280" y="914400"/>
            <a:ext cx="7589520" cy="27432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Literature Survey</a:t>
            </a:r>
            <a:endParaRPr lang="en-US" sz="1400" dirty="0"/>
          </a:p>
        </p:txBody>
      </p:sp>
      <p:sp>
        <p:nvSpPr>
          <p:cNvPr id="7" name="Text 5"/>
          <p:cNvSpPr txBox="1"/>
          <p:nvPr/>
        </p:nvSpPr>
        <p:spPr>
          <a:xfrm>
            <a:off x="1097280" y="1188720"/>
            <a:ext cx="7589520" cy="27432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Comprehensive review of 4 major papers (2020-2024) on ML for heart disease prediction</a:t>
            </a:r>
            <a:endParaRPr lang="en-US" sz="1200" dirty="0"/>
          </a:p>
        </p:txBody>
      </p:sp>
      <p:sp>
        <p:nvSpPr>
          <p:cNvPr id="8" name="Shape 6"/>
          <p:cNvSpPr/>
          <p:nvPr/>
        </p:nvSpPr>
        <p:spPr>
          <a:xfrm>
            <a:off x="457200" y="1600200"/>
            <a:ext cx="457200" cy="457200"/>
          </a:xfrm>
          <a:prstGeom prst="ellipse">
            <a:avLst/>
          </a:prstGeom>
          <a:solidFill>
            <a:srgbClr val="2E7D32"/>
          </a:solidFill>
          <a:ln w="12700">
            <a:solidFill>
              <a:srgbClr val="2E7D32"/>
            </a:solidFill>
            <a:prstDash val="solid"/>
          </a:ln>
        </p:spPr>
      </p:sp>
      <p:sp>
        <p:nvSpPr>
          <p:cNvPr id="9" name="Text 7"/>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097280" y="1554480"/>
            <a:ext cx="7589520" cy="27432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Problem Analysis</a:t>
            </a:r>
            <a:endParaRPr lang="en-US" sz="1400" dirty="0"/>
          </a:p>
        </p:txBody>
      </p:sp>
      <p:sp>
        <p:nvSpPr>
          <p:cNvPr id="11" name="Text 9"/>
          <p:cNvSpPr txBox="1"/>
          <p:nvPr/>
        </p:nvSpPr>
        <p:spPr>
          <a:xfrm>
            <a:off x="1097280" y="1828800"/>
            <a:ext cx="7589520" cy="27432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Identified research gaps: lack of standardized comparison framework and inconsistent evaluation metrics</a:t>
            </a:r>
            <a:endParaRPr lang="en-US" sz="1200" dirty="0"/>
          </a:p>
        </p:txBody>
      </p:sp>
      <p:sp>
        <p:nvSpPr>
          <p:cNvPr id="12" name="Shape 10"/>
          <p:cNvSpPr/>
          <p:nvPr/>
        </p:nvSpPr>
        <p:spPr>
          <a:xfrm>
            <a:off x="457200" y="2240280"/>
            <a:ext cx="457200" cy="457200"/>
          </a:xfrm>
          <a:prstGeom prst="ellipse">
            <a:avLst/>
          </a:prstGeom>
          <a:solidFill>
            <a:srgbClr val="2E7D32"/>
          </a:solidFill>
          <a:ln w="12700">
            <a:solidFill>
              <a:srgbClr val="2E7D32"/>
            </a:solidFill>
            <a:prstDash val="solid"/>
          </a:ln>
        </p:spPr>
      </p:sp>
      <p:sp>
        <p:nvSpPr>
          <p:cNvPr id="13" name="Text 11"/>
          <p:cNvSpPr txBox="1"/>
          <p:nvPr/>
        </p:nvSpPr>
        <p:spPr>
          <a:xfrm>
            <a:off x="45720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1097280" y="2194560"/>
            <a:ext cx="7589520" cy="27432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Dataset Preparation</a:t>
            </a:r>
            <a:endParaRPr lang="en-US" sz="1400" dirty="0"/>
          </a:p>
        </p:txBody>
      </p:sp>
      <p:sp>
        <p:nvSpPr>
          <p:cNvPr id="15" name="Text 13"/>
          <p:cNvSpPr txBox="1"/>
          <p:nvPr/>
        </p:nvSpPr>
        <p:spPr>
          <a:xfrm>
            <a:off x="1097280" y="2468880"/>
            <a:ext cx="7589520" cy="27432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Loaded UCI heart disease dataset, performed data cleaning and preprocessing</a:t>
            </a:r>
            <a:endParaRPr lang="en-US" sz="1200" dirty="0"/>
          </a:p>
        </p:txBody>
      </p:sp>
      <p:sp>
        <p:nvSpPr>
          <p:cNvPr id="16" name="Shape 14"/>
          <p:cNvSpPr/>
          <p:nvPr/>
        </p:nvSpPr>
        <p:spPr>
          <a:xfrm>
            <a:off x="457200" y="2880360"/>
            <a:ext cx="457200" cy="457200"/>
          </a:xfrm>
          <a:prstGeom prst="ellipse">
            <a:avLst/>
          </a:prstGeom>
          <a:solidFill>
            <a:srgbClr val="2E7D32"/>
          </a:solidFill>
          <a:ln w="12700">
            <a:solidFill>
              <a:srgbClr val="2E7D32"/>
            </a:solidFill>
            <a:prstDash val="solid"/>
          </a:ln>
        </p:spPr>
      </p:sp>
      <p:sp>
        <p:nvSpPr>
          <p:cNvPr id="17" name="Text 15"/>
          <p:cNvSpPr txBox="1"/>
          <p:nvPr/>
        </p:nvSpPr>
        <p:spPr>
          <a:xfrm>
            <a:off x="457200" y="2880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097280" y="2834640"/>
            <a:ext cx="7589520" cy="27432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Feature Engineering</a:t>
            </a:r>
            <a:endParaRPr lang="en-US" sz="1400" dirty="0"/>
          </a:p>
        </p:txBody>
      </p:sp>
      <p:sp>
        <p:nvSpPr>
          <p:cNvPr id="19" name="Text 17"/>
          <p:cNvSpPr txBox="1"/>
          <p:nvPr/>
        </p:nvSpPr>
        <p:spPr>
          <a:xfrm>
            <a:off x="1097280" y="3108960"/>
            <a:ext cx="7589520" cy="27432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Implemented data normalization and feature selection (13 clinical variables)</a:t>
            </a:r>
            <a:endParaRPr lang="en-US" sz="1200" dirty="0"/>
          </a:p>
        </p:txBody>
      </p:sp>
      <p:sp>
        <p:nvSpPr>
          <p:cNvPr id="20" name="Shape 18"/>
          <p:cNvSpPr/>
          <p:nvPr/>
        </p:nvSpPr>
        <p:spPr>
          <a:xfrm>
            <a:off x="457200" y="3520440"/>
            <a:ext cx="457200" cy="457200"/>
          </a:xfrm>
          <a:prstGeom prst="ellipse">
            <a:avLst/>
          </a:prstGeom>
          <a:solidFill>
            <a:srgbClr val="E69500"/>
          </a:solidFill>
          <a:ln w="12700">
            <a:solidFill>
              <a:srgbClr val="E69500"/>
            </a:solidFill>
            <a:prstDash val="solid"/>
          </a:ln>
        </p:spPr>
      </p:sp>
      <p:sp>
        <p:nvSpPr>
          <p:cNvPr id="21" name="Text 19"/>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txBox="1"/>
          <p:nvPr/>
        </p:nvSpPr>
        <p:spPr>
          <a:xfrm>
            <a:off x="1097280" y="3474720"/>
            <a:ext cx="7589520" cy="27432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Model Implementation</a:t>
            </a:r>
            <a:endParaRPr lang="en-US" sz="1400" dirty="0"/>
          </a:p>
        </p:txBody>
      </p:sp>
      <p:sp>
        <p:nvSpPr>
          <p:cNvPr id="23" name="Text 21"/>
          <p:cNvSpPr txBox="1"/>
          <p:nvPr/>
        </p:nvSpPr>
        <p:spPr>
          <a:xfrm>
            <a:off x="1097280" y="3749040"/>
            <a:ext cx="7589520" cy="27432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In progress: Implementing Logistic Regression, KNN, Decision Tree, Random Forest, SVM</a:t>
            </a:r>
            <a:endParaRPr lang="en-US" sz="1200" dirty="0"/>
          </a:p>
        </p:txBody>
      </p:sp>
      <p:sp>
        <p:nvSpPr>
          <p:cNvPr id="24" name="Shape 22"/>
          <p:cNvSpPr/>
          <p:nvPr/>
        </p:nvSpPr>
        <p:spPr>
          <a:xfrm>
            <a:off x="457200" y="4160520"/>
            <a:ext cx="457200" cy="457200"/>
          </a:xfrm>
          <a:prstGeom prst="ellipse">
            <a:avLst/>
          </a:prstGeom>
          <a:solidFill>
            <a:srgbClr val="E69500"/>
          </a:solidFill>
          <a:ln w="12700">
            <a:solidFill>
              <a:srgbClr val="E69500"/>
            </a:solidFill>
            <a:prstDash val="solid"/>
          </a:ln>
        </p:spPr>
      </p:sp>
      <p:sp>
        <p:nvSpPr>
          <p:cNvPr id="25" name="Text 23"/>
          <p:cNvSpPr txBox="1"/>
          <p:nvPr/>
        </p:nvSpPr>
        <p:spPr>
          <a:xfrm>
            <a:off x="457200" y="4160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4"/>
          <p:cNvSpPr txBox="1"/>
          <p:nvPr/>
        </p:nvSpPr>
        <p:spPr>
          <a:xfrm>
            <a:off x="1097280" y="4114800"/>
            <a:ext cx="7589520" cy="27432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Model Evaluation</a:t>
            </a:r>
            <a:endParaRPr lang="en-US" sz="1400" dirty="0"/>
          </a:p>
        </p:txBody>
      </p:sp>
      <p:sp>
        <p:nvSpPr>
          <p:cNvPr id="27" name="Text 25"/>
          <p:cNvSpPr txBox="1"/>
          <p:nvPr/>
        </p:nvSpPr>
        <p:spPr>
          <a:xfrm>
            <a:off x="1097280" y="4389120"/>
            <a:ext cx="7589520" cy="274320"/>
          </a:xfrm>
          <a:prstGeom prst="rect">
            <a:avLst/>
          </a:prstGeom>
          <a:noFill/>
          <a:ln/>
        </p:spPr>
        <p:txBody>
          <a:bodyPr wrap="square" lIns="0" tIns="0" rIns="0" bIns="0" rtlCol="0" anchor="t"/>
          <a:lstStyle/>
          <a:p>
            <a:pPr indent="0" marL="0">
              <a:buNone/>
            </a:pPr>
            <a:r>
              <a:rPr lang="en-US" sz="1200" dirty="0">
                <a:solidFill>
                  <a:srgbClr val="555555"/>
                </a:solidFill>
                <a:latin typeface="Calibri" pitchFamily="34" charset="0"/>
                <a:ea typeface="Calibri" pitchFamily="34" charset="-122"/>
                <a:cs typeface="Calibri" pitchFamily="34" charset="-120"/>
              </a:rPr>
              <a:t>In progress: Computing accuracy, precision, recall, F1-score for each model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9: TIMELINE &amp; REVIEW PLAN</a:t>
            </a:r>
            <a:endParaRPr lang="en-US" sz="2400" dirty="0"/>
          </a:p>
        </p:txBody>
      </p:sp>
      <p:sp>
        <p:nvSpPr>
          <p:cNvPr id="4" name="Shape 2"/>
          <p:cNvSpPr/>
          <p:nvPr/>
        </p:nvSpPr>
        <p:spPr>
          <a:xfrm>
            <a:off x="1371600" y="1371600"/>
            <a:ext cx="6400800" cy="0"/>
          </a:xfrm>
          <a:prstGeom prst="line">
            <a:avLst/>
          </a:prstGeom>
          <a:noFill/>
          <a:ln w="38100">
            <a:solidFill>
              <a:srgbClr val="4472C4"/>
            </a:solidFill>
            <a:prstDash val="solid"/>
          </a:ln>
        </p:spPr>
      </p:sp>
      <p:sp>
        <p:nvSpPr>
          <p:cNvPr id="5" name="Shape 3"/>
          <p:cNvSpPr/>
          <p:nvPr/>
        </p:nvSpPr>
        <p:spPr>
          <a:xfrm>
            <a:off x="1554480" y="1188720"/>
            <a:ext cx="365760" cy="365760"/>
          </a:xfrm>
          <a:prstGeom prst="ellipse">
            <a:avLst/>
          </a:prstGeom>
          <a:solidFill>
            <a:srgbClr val="1F4E79"/>
          </a:solidFill>
          <a:ln w="25400">
            <a:solidFill>
              <a:srgbClr val="FFFFFF"/>
            </a:solidFill>
            <a:prstDash val="solid"/>
          </a:ln>
        </p:spPr>
      </p:sp>
      <p:sp>
        <p:nvSpPr>
          <p:cNvPr id="6" name="Text 4"/>
          <p:cNvSpPr txBox="1"/>
          <p:nvPr/>
        </p:nvSpPr>
        <p:spPr>
          <a:xfrm>
            <a:off x="457200" y="868680"/>
            <a:ext cx="2560320" cy="274320"/>
          </a:xfrm>
          <a:prstGeom prst="rect">
            <a:avLst/>
          </a:prstGeom>
          <a:noFill/>
          <a:ln/>
        </p:spPr>
        <p:txBody>
          <a:bodyPr wrap="square" lIns="0" tIns="0" rIns="0" bIns="0" rtlCol="0" anchor="ctr"/>
          <a:lstStyle/>
          <a:p>
            <a:pPr algn="ctr" indent="0" marL="0">
              <a:buNone/>
            </a:pPr>
            <a:r>
              <a:rPr lang="en-US" sz="1300" b="1" dirty="0">
                <a:solidFill>
                  <a:srgbClr val="4472C4"/>
                </a:solidFill>
                <a:latin typeface="Calibri" pitchFamily="34" charset="0"/>
                <a:ea typeface="Calibri" pitchFamily="34" charset="-122"/>
                <a:cs typeface="Calibri" pitchFamily="34" charset="-120"/>
              </a:rPr>
              <a:t>Present</a:t>
            </a:r>
            <a:endParaRPr lang="en-US" sz="1300" dirty="0"/>
          </a:p>
        </p:txBody>
      </p:sp>
      <p:sp>
        <p:nvSpPr>
          <p:cNvPr id="7" name="Text 5"/>
          <p:cNvSpPr txBox="1"/>
          <p:nvPr/>
        </p:nvSpPr>
        <p:spPr>
          <a:xfrm>
            <a:off x="457200" y="1691640"/>
            <a:ext cx="2560320" cy="274320"/>
          </a:xfrm>
          <a:prstGeom prst="rect">
            <a:avLst/>
          </a:prstGeom>
          <a:noFill/>
          <a:ln/>
        </p:spPr>
        <p:txBody>
          <a:bodyPr wrap="square" lIns="0" tIns="0" rIns="0" bIns="0" rtlCol="0" anchor="ctr"/>
          <a:lstStyle/>
          <a:p>
            <a:pPr algn="ctr" indent="0" marL="0">
              <a:buNone/>
            </a:pPr>
            <a:r>
              <a:rPr lang="en-US" sz="1400" b="1" dirty="0">
                <a:solidFill>
                  <a:srgbClr val="1F4E79"/>
                </a:solidFill>
                <a:latin typeface="Calibri" pitchFamily="34" charset="0"/>
                <a:ea typeface="Calibri" pitchFamily="34" charset="-122"/>
                <a:cs typeface="Calibri" pitchFamily="34" charset="-120"/>
              </a:rPr>
              <a:t>Review 1 (Today)</a:t>
            </a:r>
            <a:endParaRPr lang="en-US" sz="1400" dirty="0"/>
          </a:p>
        </p:txBody>
      </p:sp>
      <p:sp>
        <p:nvSpPr>
          <p:cNvPr id="8" name="Text 6"/>
          <p:cNvSpPr txBox="1"/>
          <p:nvPr/>
        </p:nvSpPr>
        <p:spPr>
          <a:xfrm>
            <a:off x="457200" y="2011680"/>
            <a:ext cx="2560320" cy="548640"/>
          </a:xfrm>
          <a:prstGeom prst="rect">
            <a:avLst/>
          </a:prstGeom>
          <a:noFill/>
          <a:ln/>
        </p:spPr>
        <p:txBody>
          <a:bodyPr wrap="square" lIns="0" tIns="0" rIns="0" bIns="0" rtlCol="0" anchor="t"/>
          <a:lstStyle/>
          <a:p>
            <a:pPr algn="ctr" indent="0" marL="0">
              <a:buNone/>
            </a:pPr>
            <a:r>
              <a:rPr lang="en-US" sz="1200" dirty="0">
                <a:solidFill>
                  <a:srgbClr val="555555"/>
                </a:solidFill>
                <a:latin typeface="Calibri" pitchFamily="34" charset="0"/>
                <a:ea typeface="Calibri" pitchFamily="34" charset="-122"/>
                <a:cs typeface="Calibri" pitchFamily="34" charset="-120"/>
              </a:rPr>
              <a:t>Literature Survey Complete</a:t>
            </a:r>
            <a:endParaRPr lang="en-US" sz="1200" dirty="0"/>
          </a:p>
        </p:txBody>
      </p:sp>
      <p:sp>
        <p:nvSpPr>
          <p:cNvPr id="9" name="Shape 7"/>
          <p:cNvSpPr/>
          <p:nvPr/>
        </p:nvSpPr>
        <p:spPr>
          <a:xfrm>
            <a:off x="4480560" y="1188720"/>
            <a:ext cx="365760" cy="365760"/>
          </a:xfrm>
          <a:prstGeom prst="ellipse">
            <a:avLst/>
          </a:prstGeom>
          <a:solidFill>
            <a:srgbClr val="4472C4"/>
          </a:solidFill>
          <a:ln w="25400">
            <a:solidFill>
              <a:srgbClr val="FFFFFF"/>
            </a:solidFill>
            <a:prstDash val="solid"/>
          </a:ln>
        </p:spPr>
      </p:sp>
      <p:sp>
        <p:nvSpPr>
          <p:cNvPr id="10" name="Text 8"/>
          <p:cNvSpPr txBox="1"/>
          <p:nvPr/>
        </p:nvSpPr>
        <p:spPr>
          <a:xfrm>
            <a:off x="3383280" y="868680"/>
            <a:ext cx="2560320" cy="274320"/>
          </a:xfrm>
          <a:prstGeom prst="rect">
            <a:avLst/>
          </a:prstGeom>
          <a:noFill/>
          <a:ln/>
        </p:spPr>
        <p:txBody>
          <a:bodyPr wrap="square" lIns="0" tIns="0" rIns="0" bIns="0" rtlCol="0" anchor="ctr"/>
          <a:lstStyle/>
          <a:p>
            <a:pPr algn="ctr" indent="0" marL="0">
              <a:buNone/>
            </a:pPr>
            <a:r>
              <a:rPr lang="en-US" sz="1300" b="1" dirty="0">
                <a:solidFill>
                  <a:srgbClr val="4472C4"/>
                </a:solidFill>
                <a:latin typeface="Calibri" pitchFamily="34" charset="0"/>
                <a:ea typeface="Calibri" pitchFamily="34" charset="-122"/>
                <a:cs typeface="Calibri" pitchFamily="34" charset="-120"/>
              </a:rPr>
              <a:t>Dec 2026</a:t>
            </a:r>
            <a:endParaRPr lang="en-US" sz="1300" dirty="0"/>
          </a:p>
        </p:txBody>
      </p:sp>
      <p:sp>
        <p:nvSpPr>
          <p:cNvPr id="11" name="Text 9"/>
          <p:cNvSpPr txBox="1"/>
          <p:nvPr/>
        </p:nvSpPr>
        <p:spPr>
          <a:xfrm>
            <a:off x="3383280" y="1691640"/>
            <a:ext cx="2560320" cy="274320"/>
          </a:xfrm>
          <a:prstGeom prst="rect">
            <a:avLst/>
          </a:prstGeom>
          <a:noFill/>
          <a:ln/>
        </p:spPr>
        <p:txBody>
          <a:bodyPr wrap="square" lIns="0" tIns="0" rIns="0" bIns="0" rtlCol="0" anchor="ctr"/>
          <a:lstStyle/>
          <a:p>
            <a:pPr algn="ctr" indent="0" marL="0">
              <a:buNone/>
            </a:pPr>
            <a:r>
              <a:rPr lang="en-US" sz="1400" b="1" dirty="0">
                <a:solidFill>
                  <a:srgbClr val="1F4E79"/>
                </a:solidFill>
                <a:latin typeface="Calibri" pitchFamily="34" charset="0"/>
                <a:ea typeface="Calibri" pitchFamily="34" charset="-122"/>
                <a:cs typeface="Calibri" pitchFamily="34" charset="-120"/>
              </a:rPr>
              <a:t>Review 2</a:t>
            </a:r>
            <a:endParaRPr lang="en-US" sz="1400" dirty="0"/>
          </a:p>
        </p:txBody>
      </p:sp>
      <p:sp>
        <p:nvSpPr>
          <p:cNvPr id="12" name="Text 10"/>
          <p:cNvSpPr txBox="1"/>
          <p:nvPr/>
        </p:nvSpPr>
        <p:spPr>
          <a:xfrm>
            <a:off x="3383280" y="2011680"/>
            <a:ext cx="2560320" cy="548640"/>
          </a:xfrm>
          <a:prstGeom prst="rect">
            <a:avLst/>
          </a:prstGeom>
          <a:noFill/>
          <a:ln/>
        </p:spPr>
        <p:txBody>
          <a:bodyPr wrap="square" lIns="0" tIns="0" rIns="0" bIns="0" rtlCol="0" anchor="t"/>
          <a:lstStyle/>
          <a:p>
            <a:pPr algn="ctr" indent="0" marL="0">
              <a:buNone/>
            </a:pPr>
            <a:r>
              <a:rPr lang="en-US" sz="1200" dirty="0">
                <a:solidFill>
                  <a:srgbClr val="555555"/>
                </a:solidFill>
                <a:latin typeface="Calibri" pitchFamily="34" charset="0"/>
                <a:ea typeface="Calibri" pitchFamily="34" charset="-122"/>
                <a:cs typeface="Calibri" pitchFamily="34" charset="-120"/>
              </a:rPr>
              <a:t>Model Implementation &amp; Initial Results</a:t>
            </a:r>
            <a:endParaRPr lang="en-US" sz="1200" dirty="0"/>
          </a:p>
        </p:txBody>
      </p:sp>
      <p:sp>
        <p:nvSpPr>
          <p:cNvPr id="13" name="Shape 11"/>
          <p:cNvSpPr/>
          <p:nvPr/>
        </p:nvSpPr>
        <p:spPr>
          <a:xfrm>
            <a:off x="7406640" y="1188720"/>
            <a:ext cx="365760" cy="365760"/>
          </a:xfrm>
          <a:prstGeom prst="ellipse">
            <a:avLst/>
          </a:prstGeom>
          <a:solidFill>
            <a:srgbClr val="4472C4"/>
          </a:solidFill>
          <a:ln w="25400">
            <a:solidFill>
              <a:srgbClr val="FFFFFF"/>
            </a:solidFill>
            <a:prstDash val="solid"/>
          </a:ln>
        </p:spPr>
      </p:sp>
      <p:sp>
        <p:nvSpPr>
          <p:cNvPr id="14" name="Text 12"/>
          <p:cNvSpPr txBox="1"/>
          <p:nvPr/>
        </p:nvSpPr>
        <p:spPr>
          <a:xfrm>
            <a:off x="6309360" y="868680"/>
            <a:ext cx="2560320" cy="274320"/>
          </a:xfrm>
          <a:prstGeom prst="rect">
            <a:avLst/>
          </a:prstGeom>
          <a:noFill/>
          <a:ln/>
        </p:spPr>
        <p:txBody>
          <a:bodyPr wrap="square" lIns="0" tIns="0" rIns="0" bIns="0" rtlCol="0" anchor="ctr"/>
          <a:lstStyle/>
          <a:p>
            <a:pPr algn="ctr" indent="0" marL="0">
              <a:buNone/>
            </a:pPr>
            <a:r>
              <a:rPr lang="en-US" sz="1300" b="1" dirty="0">
                <a:solidFill>
                  <a:srgbClr val="4472C4"/>
                </a:solidFill>
                <a:latin typeface="Calibri" pitchFamily="34" charset="0"/>
                <a:ea typeface="Calibri" pitchFamily="34" charset="-122"/>
                <a:cs typeface="Calibri" pitchFamily="34" charset="-120"/>
              </a:rPr>
              <a:t>Jan 2027</a:t>
            </a:r>
            <a:endParaRPr lang="en-US" sz="1300" dirty="0"/>
          </a:p>
        </p:txBody>
      </p:sp>
      <p:sp>
        <p:nvSpPr>
          <p:cNvPr id="15" name="Text 13"/>
          <p:cNvSpPr txBox="1"/>
          <p:nvPr/>
        </p:nvSpPr>
        <p:spPr>
          <a:xfrm>
            <a:off x="6309360" y="1691640"/>
            <a:ext cx="2560320" cy="274320"/>
          </a:xfrm>
          <a:prstGeom prst="rect">
            <a:avLst/>
          </a:prstGeom>
          <a:noFill/>
          <a:ln/>
        </p:spPr>
        <p:txBody>
          <a:bodyPr wrap="square" lIns="0" tIns="0" rIns="0" bIns="0" rtlCol="0" anchor="ctr"/>
          <a:lstStyle/>
          <a:p>
            <a:pPr algn="ctr" indent="0" marL="0">
              <a:buNone/>
            </a:pPr>
            <a:r>
              <a:rPr lang="en-US" sz="1400" b="1" dirty="0">
                <a:solidFill>
                  <a:srgbClr val="1F4E79"/>
                </a:solidFill>
                <a:latin typeface="Calibri" pitchFamily="34" charset="0"/>
                <a:ea typeface="Calibri" pitchFamily="34" charset="-122"/>
                <a:cs typeface="Calibri" pitchFamily="34" charset="-120"/>
              </a:rPr>
              <a:t>Final Review</a:t>
            </a:r>
            <a:endParaRPr lang="en-US" sz="1400" dirty="0"/>
          </a:p>
        </p:txBody>
      </p:sp>
      <p:sp>
        <p:nvSpPr>
          <p:cNvPr id="16" name="Text 14"/>
          <p:cNvSpPr txBox="1"/>
          <p:nvPr/>
        </p:nvSpPr>
        <p:spPr>
          <a:xfrm>
            <a:off x="6309360" y="2011680"/>
            <a:ext cx="2560320" cy="548640"/>
          </a:xfrm>
          <a:prstGeom prst="rect">
            <a:avLst/>
          </a:prstGeom>
          <a:noFill/>
          <a:ln/>
        </p:spPr>
        <p:txBody>
          <a:bodyPr wrap="square" lIns="0" tIns="0" rIns="0" bIns="0" rtlCol="0" anchor="t"/>
          <a:lstStyle/>
          <a:p>
            <a:pPr algn="ctr" indent="0" marL="0">
              <a:buNone/>
            </a:pPr>
            <a:r>
              <a:rPr lang="en-US" sz="1200" dirty="0">
                <a:solidFill>
                  <a:srgbClr val="555555"/>
                </a:solidFill>
                <a:latin typeface="Calibri" pitchFamily="34" charset="0"/>
                <a:ea typeface="Calibri" pitchFamily="34" charset="-122"/>
                <a:cs typeface="Calibri" pitchFamily="34" charset="-120"/>
              </a:rPr>
              <a:t>Complete System with UI &amp; Full Evaluation</a:t>
            </a:r>
            <a:endParaRPr lang="en-US" sz="1200" dirty="0"/>
          </a:p>
        </p:txBody>
      </p:sp>
      <p:sp>
        <p:nvSpPr>
          <p:cNvPr id="17" name="Shape 15"/>
          <p:cNvSpPr/>
          <p:nvPr/>
        </p:nvSpPr>
        <p:spPr>
          <a:xfrm>
            <a:off x="457200" y="2834640"/>
            <a:ext cx="8229600" cy="1920240"/>
          </a:xfrm>
          <a:prstGeom prst="rect">
            <a:avLst/>
          </a:prstGeom>
          <a:solidFill>
            <a:srgbClr val="EAF0FA"/>
          </a:solidFill>
          <a:ln w="12700">
            <a:solidFill>
              <a:srgbClr val="EAF0FA"/>
            </a:solidFill>
            <a:prstDash val="solid"/>
          </a:ln>
        </p:spPr>
      </p:sp>
      <p:sp>
        <p:nvSpPr>
          <p:cNvPr id="18" name="Text 16"/>
          <p:cNvSpPr txBox="1"/>
          <p:nvPr/>
        </p:nvSpPr>
        <p:spPr>
          <a:xfrm>
            <a:off x="640080" y="2926080"/>
            <a:ext cx="7863840" cy="32004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Current Activities (Review 1 - Today)</a:t>
            </a:r>
            <a:endParaRPr lang="en-US" sz="1400" dirty="0"/>
          </a:p>
        </p:txBody>
      </p:sp>
      <p:sp>
        <p:nvSpPr>
          <p:cNvPr id="19" name="Text 17"/>
          <p:cNvSpPr txBox="1"/>
          <p:nvPr/>
        </p:nvSpPr>
        <p:spPr>
          <a:xfrm>
            <a:off x="640080" y="3291840"/>
            <a:ext cx="7863840" cy="137160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222222"/>
                </a:solidFill>
                <a:latin typeface="Calibri" pitchFamily="34" charset="0"/>
                <a:ea typeface="Calibri" pitchFamily="34" charset="-122"/>
                <a:cs typeface="Calibri" pitchFamily="34" charset="-120"/>
              </a:rPr>
              <a:t>Present comprehensive literature survey on ML for heart disease prediction</a:t>
            </a:r>
            <a:endParaRPr lang="en-US" sz="1250" dirty="0"/>
          </a:p>
          <a:p>
            <a:pPr marL="342900" indent="-342900">
              <a:spcAft>
                <a:spcPts val="300"/>
              </a:spcAft>
              <a:buSzPct val="100000"/>
              <a:buChar char="•"/>
            </a:pPr>
            <a:r>
              <a:rPr lang="en-US" sz="1250" dirty="0">
                <a:solidFill>
                  <a:srgbClr val="222222"/>
                </a:solidFill>
                <a:latin typeface="Calibri" pitchFamily="34" charset="0"/>
                <a:ea typeface="Calibri" pitchFamily="34" charset="-122"/>
                <a:cs typeface="Calibri" pitchFamily="34" charset="-120"/>
              </a:rPr>
              <a:t>Discuss identified research gaps and justify project scope</a:t>
            </a:r>
            <a:endParaRPr lang="en-US" sz="1250" dirty="0"/>
          </a:p>
          <a:p>
            <a:pPr marL="342900" indent="-342900">
              <a:spcAft>
                <a:spcPts val="300"/>
              </a:spcAft>
              <a:buSzPct val="100000"/>
              <a:buChar char="•"/>
            </a:pPr>
            <a:r>
              <a:rPr lang="en-US" sz="1250" dirty="0">
                <a:solidFill>
                  <a:srgbClr val="222222"/>
                </a:solidFill>
                <a:latin typeface="Calibri" pitchFamily="34" charset="0"/>
                <a:ea typeface="Calibri" pitchFamily="34" charset="-122"/>
                <a:cs typeface="Calibri" pitchFamily="34" charset="-120"/>
              </a:rPr>
              <a:t>Demonstrate dataset and preprocessing methodology</a:t>
            </a:r>
            <a:endParaRPr lang="en-US" sz="1250" dirty="0"/>
          </a:p>
          <a:p>
            <a:pPr marL="342900" indent="-342900">
              <a:spcAft>
                <a:spcPts val="300"/>
              </a:spcAft>
              <a:buSzPct val="100000"/>
              <a:buChar char="•"/>
            </a:pPr>
            <a:r>
              <a:rPr lang="en-US" sz="1250" dirty="0">
                <a:solidFill>
                  <a:srgbClr val="222222"/>
                </a:solidFill>
                <a:latin typeface="Calibri" pitchFamily="34" charset="0"/>
                <a:ea typeface="Calibri" pitchFamily="34" charset="-122"/>
                <a:cs typeface="Calibri" pitchFamily="34" charset="-120"/>
              </a:rPr>
              <a:t>Showcase proposed system architecture and tool selection</a:t>
            </a:r>
            <a:endParaRPr lang="en-US" sz="1250" dirty="0"/>
          </a:p>
          <a:p>
            <a:pPr marL="342900" indent="-342900">
              <a:spcAft>
                <a:spcPts val="300"/>
              </a:spcAft>
              <a:buSzPct val="100000"/>
              <a:buChar char="•"/>
            </a:pPr>
            <a:r>
              <a:rPr lang="en-US" sz="1250" dirty="0">
                <a:solidFill>
                  <a:srgbClr val="222222"/>
                </a:solidFill>
                <a:latin typeface="Calibri" pitchFamily="34" charset="0"/>
                <a:ea typeface="Calibri" pitchFamily="34" charset="-122"/>
                <a:cs typeface="Calibri" pitchFamily="34" charset="-120"/>
              </a:rPr>
              <a:t>Answer questions on literature findings and project viability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SECTION 10: EXPECTED OUTCOME &amp; CONCLUSION</a:t>
            </a:r>
            <a:endParaRPr lang="en-US" sz="2400" dirty="0"/>
          </a:p>
        </p:txBody>
      </p:sp>
      <p:sp>
        <p:nvSpPr>
          <p:cNvPr id="4" name="Shape 2"/>
          <p:cNvSpPr/>
          <p:nvPr/>
        </p:nvSpPr>
        <p:spPr>
          <a:xfrm>
            <a:off x="457200" y="914400"/>
            <a:ext cx="4023360" cy="2606040"/>
          </a:xfrm>
          <a:prstGeom prst="rect">
            <a:avLst/>
          </a:prstGeom>
          <a:solidFill>
            <a:srgbClr val="EAF0FA"/>
          </a:solidFill>
          <a:ln w="12700">
            <a:solidFill>
              <a:srgbClr val="EAF0FA"/>
            </a:solidFill>
            <a:prstDash val="solid"/>
          </a:ln>
        </p:spPr>
      </p:sp>
      <p:sp>
        <p:nvSpPr>
          <p:cNvPr id="5" name="Text 3"/>
          <p:cNvSpPr txBox="1"/>
          <p:nvPr/>
        </p:nvSpPr>
        <p:spPr>
          <a:xfrm>
            <a:off x="640080" y="1005840"/>
            <a:ext cx="3657600" cy="320040"/>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Expected Deliverables</a:t>
            </a:r>
            <a:endParaRPr lang="en-US" sz="1500" dirty="0"/>
          </a:p>
        </p:txBody>
      </p:sp>
      <p:sp>
        <p:nvSpPr>
          <p:cNvPr id="6" name="Text 4"/>
          <p:cNvSpPr txBox="1"/>
          <p:nvPr/>
        </p:nvSpPr>
        <p:spPr>
          <a:xfrm>
            <a:off x="640080" y="1371600"/>
            <a:ext cx="3657600" cy="210312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150" dirty="0">
                <a:solidFill>
                  <a:srgbClr val="222222"/>
                </a:solidFill>
                <a:latin typeface="Calibri" pitchFamily="34" charset="0"/>
                <a:ea typeface="Calibri" pitchFamily="34" charset="-122"/>
                <a:cs typeface="Calibri" pitchFamily="34" charset="-120"/>
              </a:rPr>
              <a:t>Python-based prediction system with 5+ ML classifiers</a:t>
            </a:r>
            <a:endParaRPr lang="en-US" sz="1150" dirty="0"/>
          </a:p>
          <a:p>
            <a:pPr marL="342900" indent="-342900">
              <a:spcAft>
                <a:spcPts val="300"/>
              </a:spcAft>
              <a:buSzPct val="100000"/>
              <a:buFont typeface="+mj-lt"/>
              <a:buAutoNum type="arabicPeriod" startAt="1"/>
            </a:pPr>
            <a:r>
              <a:rPr lang="en-US" sz="1150" dirty="0">
                <a:solidFill>
                  <a:srgbClr val="222222"/>
                </a:solidFill>
                <a:latin typeface="Calibri" pitchFamily="34" charset="0"/>
                <a:ea typeface="Calibri" pitchFamily="34" charset="-122"/>
                <a:cs typeface="Calibri" pitchFamily="34" charset="-120"/>
              </a:rPr>
              <a:t>Comprehensive comparison report with multi-metric evaluation</a:t>
            </a:r>
            <a:endParaRPr lang="en-US" sz="1150" dirty="0"/>
          </a:p>
          <a:p>
            <a:pPr marL="342900" indent="-342900">
              <a:spcAft>
                <a:spcPts val="300"/>
              </a:spcAft>
              <a:buSzPct val="100000"/>
              <a:buFont typeface="+mj-lt"/>
              <a:buAutoNum type="arabicPeriod" startAt="1"/>
            </a:pPr>
            <a:r>
              <a:rPr lang="en-US" sz="1150" dirty="0">
                <a:solidFill>
                  <a:srgbClr val="222222"/>
                </a:solidFill>
                <a:latin typeface="Calibri" pitchFamily="34" charset="0"/>
                <a:ea typeface="Calibri" pitchFamily="34" charset="-122"/>
                <a:cs typeface="Calibri" pitchFamily="34" charset="-120"/>
              </a:rPr>
              <a:t>Web-based interface for entering patient data and getting predictions</a:t>
            </a:r>
            <a:endParaRPr lang="en-US" sz="1150" dirty="0"/>
          </a:p>
          <a:p>
            <a:pPr marL="342900" indent="-342900">
              <a:spcAft>
                <a:spcPts val="300"/>
              </a:spcAft>
              <a:buSzPct val="100000"/>
              <a:buFont typeface="+mj-lt"/>
              <a:buAutoNum type="arabicPeriod" startAt="1"/>
            </a:pPr>
            <a:r>
              <a:rPr lang="en-US" sz="1150" dirty="0">
                <a:solidFill>
                  <a:srgbClr val="222222"/>
                </a:solidFill>
                <a:latin typeface="Calibri" pitchFamily="34" charset="0"/>
                <a:ea typeface="Calibri" pitchFamily="34" charset="-122"/>
                <a:cs typeface="Calibri" pitchFamily="34" charset="-120"/>
              </a:rPr>
              <a:t>Complete documentation of preprocessing, feature selection and evaluation</a:t>
            </a:r>
            <a:endParaRPr lang="en-US" sz="1150" dirty="0"/>
          </a:p>
          <a:p>
            <a:pPr marL="342900" indent="-342900">
              <a:spcAft>
                <a:spcPts val="300"/>
              </a:spcAft>
              <a:buSzPct val="100000"/>
              <a:buFont typeface="+mj-lt"/>
              <a:buAutoNum type="arabicPeriod" startAt="1"/>
            </a:pPr>
            <a:r>
              <a:rPr lang="en-US" sz="1150" dirty="0">
                <a:solidFill>
                  <a:srgbClr val="222222"/>
                </a:solidFill>
                <a:latin typeface="Calibri" pitchFamily="34" charset="0"/>
                <a:ea typeface="Calibri" pitchFamily="34" charset="-122"/>
                <a:cs typeface="Calibri" pitchFamily="34" charset="-120"/>
              </a:rPr>
              <a:t>Research publication on standardized ML comparison</a:t>
            </a:r>
            <a:endParaRPr lang="en-US" sz="1150" dirty="0"/>
          </a:p>
        </p:txBody>
      </p:sp>
      <p:sp>
        <p:nvSpPr>
          <p:cNvPr id="7" name="Shape 5"/>
          <p:cNvSpPr/>
          <p:nvPr/>
        </p:nvSpPr>
        <p:spPr>
          <a:xfrm>
            <a:off x="4663440" y="914400"/>
            <a:ext cx="4023360" cy="2606040"/>
          </a:xfrm>
          <a:prstGeom prst="rect">
            <a:avLst/>
          </a:prstGeom>
          <a:solidFill>
            <a:srgbClr val="EAF0FA"/>
          </a:solidFill>
          <a:ln w="12700">
            <a:solidFill>
              <a:srgbClr val="EAF0FA"/>
            </a:solidFill>
            <a:prstDash val="solid"/>
          </a:ln>
        </p:spPr>
      </p:sp>
      <p:sp>
        <p:nvSpPr>
          <p:cNvPr id="8" name="Text 6"/>
          <p:cNvSpPr txBox="1"/>
          <p:nvPr/>
        </p:nvSpPr>
        <p:spPr>
          <a:xfrm>
            <a:off x="4846320" y="1005840"/>
            <a:ext cx="3657600" cy="320040"/>
          </a:xfrm>
          <a:prstGeom prst="rect">
            <a:avLst/>
          </a:prstGeom>
          <a:noFill/>
          <a:ln/>
        </p:spPr>
        <p:txBody>
          <a:bodyPr wrap="square" lIns="0" tIns="0" rIns="0" bIns="0" rtlCol="0" anchor="ctr"/>
          <a:lstStyle/>
          <a:p>
            <a:pPr indent="0" marL="0">
              <a:buNone/>
            </a:pPr>
            <a:r>
              <a:rPr lang="en-US" sz="1500" b="1" dirty="0">
                <a:solidFill>
                  <a:srgbClr val="1F4E79"/>
                </a:solidFill>
                <a:latin typeface="Calibri" pitchFamily="34" charset="0"/>
                <a:ea typeface="Calibri" pitchFamily="34" charset="-122"/>
                <a:cs typeface="Calibri" pitchFamily="34" charset="-120"/>
              </a:rPr>
              <a:t>Key Contributions</a:t>
            </a:r>
            <a:endParaRPr lang="en-US" sz="1500" dirty="0"/>
          </a:p>
        </p:txBody>
      </p:sp>
      <p:sp>
        <p:nvSpPr>
          <p:cNvPr id="9" name="Text 7"/>
          <p:cNvSpPr txBox="1"/>
          <p:nvPr/>
        </p:nvSpPr>
        <p:spPr>
          <a:xfrm>
            <a:off x="4846320" y="1371600"/>
            <a:ext cx="3657600" cy="21031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222"/>
                </a:solidFill>
                <a:latin typeface="Calibri" pitchFamily="34" charset="0"/>
                <a:ea typeface="Calibri" pitchFamily="34" charset="-122"/>
                <a:cs typeface="Calibri" pitchFamily="34" charset="-120"/>
              </a:rPr>
              <a:t>Bridges gap between literature review and practical implementation</a:t>
            </a:r>
            <a:endParaRPr lang="en-US" sz="1150" dirty="0"/>
          </a:p>
          <a:p>
            <a:pPr marL="342900" indent="-342900">
              <a:spcAft>
                <a:spcPts val="400"/>
              </a:spcAft>
              <a:buSzPct val="100000"/>
              <a:buChar char="•"/>
            </a:pPr>
            <a:r>
              <a:rPr lang="en-US" sz="1150" dirty="0">
                <a:solidFill>
                  <a:srgbClr val="222222"/>
                </a:solidFill>
                <a:latin typeface="Calibri" pitchFamily="34" charset="0"/>
                <a:ea typeface="Calibri" pitchFamily="34" charset="-122"/>
                <a:cs typeface="Calibri" pitchFamily="34" charset="-120"/>
              </a:rPr>
              <a:t>Standardized comparison framework for ML classifiers in healthcare</a:t>
            </a:r>
            <a:endParaRPr lang="en-US" sz="1150" dirty="0"/>
          </a:p>
          <a:p>
            <a:pPr marL="342900" indent="-342900">
              <a:spcAft>
                <a:spcPts val="400"/>
              </a:spcAft>
              <a:buSzPct val="100000"/>
              <a:buChar char="•"/>
            </a:pPr>
            <a:r>
              <a:rPr lang="en-US" sz="1150" dirty="0">
                <a:solidFill>
                  <a:srgbClr val="222222"/>
                </a:solidFill>
                <a:latin typeface="Calibri" pitchFamily="34" charset="0"/>
                <a:ea typeface="Calibri" pitchFamily="34" charset="-122"/>
                <a:cs typeface="Calibri" pitchFamily="34" charset="-120"/>
              </a:rPr>
              <a:t>Shows importance of multi-metric evaluation in clinical decisions</a:t>
            </a:r>
            <a:endParaRPr lang="en-US" sz="1150" dirty="0"/>
          </a:p>
          <a:p>
            <a:pPr marL="342900" indent="-342900">
              <a:spcAft>
                <a:spcPts val="400"/>
              </a:spcAft>
              <a:buSzPct val="100000"/>
              <a:buChar char="•"/>
            </a:pPr>
            <a:r>
              <a:rPr lang="en-US" sz="1150" dirty="0">
                <a:solidFill>
                  <a:srgbClr val="222222"/>
                </a:solidFill>
                <a:latin typeface="Calibri" pitchFamily="34" charset="0"/>
                <a:ea typeface="Calibri" pitchFamily="34" charset="-122"/>
                <a:cs typeface="Calibri" pitchFamily="34" charset="-120"/>
              </a:rPr>
              <a:t>Reproducible methodology for future research</a:t>
            </a:r>
            <a:endParaRPr lang="en-US" sz="1150" dirty="0"/>
          </a:p>
        </p:txBody>
      </p:sp>
      <p:sp>
        <p:nvSpPr>
          <p:cNvPr id="10" name="Shape 8"/>
          <p:cNvSpPr/>
          <p:nvPr/>
        </p:nvSpPr>
        <p:spPr>
          <a:xfrm>
            <a:off x="457200" y="3703320"/>
            <a:ext cx="8229600" cy="1051560"/>
          </a:xfrm>
          <a:prstGeom prst="rect">
            <a:avLst/>
          </a:prstGeom>
          <a:solidFill>
            <a:srgbClr val="1F4E79"/>
          </a:solidFill>
          <a:ln w="12700">
            <a:solidFill>
              <a:srgbClr val="1F4E79"/>
            </a:solidFill>
            <a:prstDash val="solid"/>
          </a:ln>
        </p:spPr>
      </p:sp>
      <p:sp>
        <p:nvSpPr>
          <p:cNvPr id="11" name="Text 9"/>
          <p:cNvSpPr txBox="1"/>
          <p:nvPr/>
        </p:nvSpPr>
        <p:spPr>
          <a:xfrm>
            <a:off x="640080" y="3703320"/>
            <a:ext cx="7863840" cy="10515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Our project addresses critical research gaps in heart disease prediction by implementing a standardized, reproducible system that validates ML approaches through consistent methodology and comprehensive evaluation, advancing the field toward clinically deployable solutions.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472C4"/>
          </a:solidFill>
          <a:ln w="12700">
            <a:solidFill>
              <a:srgbClr val="4472C4"/>
            </a:solidFill>
            <a:prstDash val="solid"/>
          </a:ln>
        </p:spPr>
      </p:sp>
      <p:sp>
        <p:nvSpPr>
          <p:cNvPr id="3" name="Text 1"/>
          <p:cNvSpPr txBox="1"/>
          <p:nvPr/>
        </p:nvSpPr>
        <p:spPr>
          <a:xfrm>
            <a:off x="457200" y="0"/>
            <a:ext cx="82296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REFERENCES</a:t>
            </a:r>
            <a:endParaRPr lang="en-US" sz="2400" dirty="0"/>
          </a:p>
        </p:txBody>
      </p:sp>
      <p:sp>
        <p:nvSpPr>
          <p:cNvPr id="4" name="Text 2"/>
          <p:cNvSpPr txBox="1"/>
          <p:nvPr/>
        </p:nvSpPr>
        <p:spPr>
          <a:xfrm>
            <a:off x="457200" y="914400"/>
            <a:ext cx="8229600" cy="3931920"/>
          </a:xfrm>
          <a:prstGeom prst="rect">
            <a:avLst/>
          </a:prstGeom>
          <a:noFill/>
          <a:ln/>
        </p:spPr>
        <p:txBody>
          <a:bodyPr wrap="square" lIns="0" tIns="0" rIns="0" bIns="0" rtlCol="0" anchor="t"/>
          <a:lstStyle/>
          <a:p>
            <a:pPr indent="0" marL="0">
              <a:spcAft>
                <a:spcPts val="800"/>
              </a:spcAft>
              <a:buNone/>
            </a:pPr>
            <a:r>
              <a:rPr lang="en-US" sz="1150" dirty="0">
                <a:solidFill>
                  <a:srgbClr val="222222"/>
                </a:solidFill>
                <a:latin typeface="Calibri" pitchFamily="34" charset="0"/>
                <a:ea typeface="Calibri" pitchFamily="34" charset="-122"/>
                <a:cs typeface="Calibri" pitchFamily="34" charset="-120"/>
              </a:rPr>
              <a:t>[1] Savita, G. Sharma, G. Rani, and V. S. Dhaka, "A review on machine learning techniques for prediction of cardiovascular diseases," in Proc. 2020 Sixth Int. Conf. Parallel, Distrib., Grid Comput. (PDGC), 2020, pp. 237-242.</a:t>
            </a:r>
            <a:endParaRPr lang="en-US" sz="1150" dirty="0"/>
          </a:p>
          <a:p>
            <a:pPr indent="0" marL="0">
              <a:spcAft>
                <a:spcPts val="800"/>
              </a:spcAft>
              <a:buNone/>
            </a:pPr>
            <a:r>
              <a:rPr lang="en-US" sz="1150" dirty="0">
                <a:solidFill>
                  <a:srgbClr val="222222"/>
                </a:solidFill>
                <a:latin typeface="Calibri" pitchFamily="34" charset="0"/>
                <a:ea typeface="Calibri" pitchFamily="34" charset="-122"/>
                <a:cs typeface="Calibri" pitchFamily="34" charset="-120"/>
              </a:rPr>
              <a:t>[2] S. Sreekumari, R. Bhalla, and G. Ganesan, "Heart disease prediction using machine learning method - A review article," in WINS/CVMLH 2023, pp. 72-82, 2023.</a:t>
            </a:r>
            <a:endParaRPr lang="en-US" sz="1150" dirty="0"/>
          </a:p>
          <a:p>
            <a:pPr indent="0" marL="0">
              <a:spcAft>
                <a:spcPts val="800"/>
              </a:spcAft>
              <a:buNone/>
            </a:pPr>
            <a:r>
              <a:rPr lang="en-US" sz="1150" dirty="0">
                <a:solidFill>
                  <a:srgbClr val="222222"/>
                </a:solidFill>
                <a:latin typeface="Calibri" pitchFamily="34" charset="0"/>
                <a:ea typeface="Calibri" pitchFamily="34" charset="-122"/>
                <a:cs typeface="Calibri" pitchFamily="34" charset="-120"/>
              </a:rPr>
              <a:t>[3] Y. Boer, L. Valencia, M. R. Setiadi, K. E. Setiawan, and M. F. Hasani, "Classification of heart disease: Comparative analysis using KNN, random forest, Gaussian naive Bayes, XGBoost, SVM, decision tree, and logistic regression," in Proc. 2023 5th Int. Conf. Cybernetics Intell. Syst. (ICORIS), 2023.</a:t>
            </a:r>
            <a:endParaRPr lang="en-US" sz="1150" dirty="0"/>
          </a:p>
          <a:p>
            <a:pPr indent="0" marL="0">
              <a:spcAft>
                <a:spcPts val="800"/>
              </a:spcAft>
              <a:buNone/>
            </a:pPr>
            <a:r>
              <a:rPr lang="en-US" sz="1150" dirty="0">
                <a:solidFill>
                  <a:srgbClr val="222222"/>
                </a:solidFill>
                <a:latin typeface="Calibri" pitchFamily="34" charset="0"/>
                <a:ea typeface="Calibri" pitchFamily="34" charset="-122"/>
                <a:cs typeface="Calibri" pitchFamily="34" charset="-120"/>
              </a:rPr>
              <a:t>[4] H. Kamal, B. Muhammad, Z. Hussain, H. Umar, H. F. Yousaf, M. Z. Hasan, M. Mustafa, M. A. Yaqub, and U. Nasir, "Heart disease prediction using machine learning," in Proc. 2024 2nd DMIHER Int. Conf. Artif. Intell. Healthcare, Educ. Ind. (IDICAIEI), 2024.</a:t>
            </a:r>
            <a:endParaRPr lang="en-US" sz="1150" dirty="0"/>
          </a:p>
          <a:p>
            <a:pPr indent="0" marL="0">
              <a:spcAft>
                <a:spcPts val="800"/>
              </a:spcAft>
              <a:buNone/>
            </a:pPr>
            <a:r>
              <a:rPr lang="en-US" sz="1150" dirty="0">
                <a:solidFill>
                  <a:srgbClr val="222222"/>
                </a:solidFill>
                <a:latin typeface="Calibri" pitchFamily="34" charset="0"/>
                <a:ea typeface="Calibri" pitchFamily="34" charset="-122"/>
                <a:cs typeface="Calibri" pitchFamily="34" charset="-120"/>
              </a:rPr>
              <a:t>[5] World Health Organization (WHO), "Cardiovascular Diseases (CVDs)," [Online]. Available: www.who.int/news-room/fact-sheets. [Accessed: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ML-Based Heart Disease Prediction System</dc:title>
  <dc:subject>PptxGenJS Presentation</dc:subject>
  <dc:creator>PptxGenJS</dc:creator>
  <cp:lastModifiedBy>PptxGenJS</cp:lastModifiedBy>
  <cp:revision>1</cp:revision>
  <dcterms:created xsi:type="dcterms:W3CDTF">2026-10-12T06:06:02Z</dcterms:created>
  <dcterms:modified xsi:type="dcterms:W3CDTF">2026-10-12T06:06:02Z</dcterms:modified>
</cp:coreProperties>
</file>